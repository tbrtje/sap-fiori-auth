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99" d="100"/>
          <a:sy n="199" d="100"/>
        </p:scale>
        <p:origin x="1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uer, Linus Julen" userId="88623e10-289a-4e8f-9f40-6ed0ee3d343c" providerId="ADAL" clId="{3FA9C5BE-00F6-50F5-B166-E7A4A12A0979}"/>
    <pc:docChg chg="modSld">
      <pc:chgData name="Heuer, Linus Julen" userId="88623e10-289a-4e8f-9f40-6ed0ee3d343c" providerId="ADAL" clId="{3FA9C5BE-00F6-50F5-B166-E7A4A12A0979}" dt="2026-09-30T10:10:43.390" v="7" actId="20577"/>
      <pc:docMkLst>
        <pc:docMk/>
      </pc:docMkLst>
      <pc:sldChg chg="modSp mod">
        <pc:chgData name="Heuer, Linus Julen" userId="88623e10-289a-4e8f-9f40-6ed0ee3d343c" providerId="ADAL" clId="{3FA9C5BE-00F6-50F5-B166-E7A4A12A0979}" dt="2026-09-30T10:10:43.390" v="7" actId="20577"/>
        <pc:sldMkLst>
          <pc:docMk/>
          <pc:sldMk cId="0" sldId="262"/>
        </pc:sldMkLst>
        <pc:spChg chg="mod">
          <ac:chgData name="Heuer, Linus Julen" userId="88623e10-289a-4e8f-9f40-6ed0ee3d343c" providerId="ADAL" clId="{3FA9C5BE-00F6-50F5-B166-E7A4A12A0979}" dt="2026-09-30T10:10:43.390" v="7" actId="20577"/>
          <ac:spMkLst>
            <pc:docMk/>
            <pc:sldMk cId="0" sldId="26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17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0:20
Hallo, wir sind Gruppe 7. Unser Thema: Zeiterfassung. Jeder von uns bucht jede Woche seine Zeiten in SAP. Wir haben uns gefragt: Warum machen wir das eigentlich noch von Hand?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0:30
Die Fiori-App funktioniert, aber sie ist mühsam. Jede Buchung wird einzeln angelegt. Man sucht PSP-Elemente heraus. Und das Absurdeste: Die meisten Termine stehen schon im Outlook-Kalender, und wir tippen sie trotzdem Zeile für Zeile ab.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0:40
Unsere Lösung: Man sagt Claude einfach, was man gebucht haben möchte. Zum Beispiel: Buch meinen gestrigen Tag anhand meines Kalenders. Claude schaut in den Outlook-Kalender und in die bisherigen Buchungen, ordnet die Termine den Projekten zu und zeigt einen Vorschlag. Gebucht wird erst, wenn man bestätigt. Die Anmeldung an SAP läuft automatisch über das Firmen-Login.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2:00
Vorbereitung: VPN an, Claude Code offen, Plugin installiert, Microsoft-365-Connector verbunden. Vorher prüfen, dass der gezeigte Tag noch nicht gebucht ist.
1. „Zeig meine Woche“: Claude zeigt die Buchungen mit Ist- und Sollstunden. Hinweis: Anmeldung lief automatisch, kein Passwort.
2. „Buch meinen gestrigen Tag aus dem Kalender“: Claude liest die Termine und schlägt eine Tabelle mit Zeiten, Projekten und Kurztexten vor. Unklare Termine fragt Claude nach.
3. „Passt so, buch das“: Claude zeigt die Vorschau (Dry-Run) und bucht danach. Zum Schluss noch einmal „Zeig meine Woche“, der Tag ist jetzt grün.
Plan B, falls VPN oder Anmeldung hängen: vorbereitete Screenshots oder Aufzeichnung zeigen. Wer nicht wirklich buchen will, stoppt nach der Vorschau.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0:30
So sind wir vorgegangen: Grobkonzept, dann mit Claude herausgefunden, wie die SAP-Fiori-Schnittstelle funktioniert. Mit zwei Prompts hat Claude das Tool geschrieben, danach haben wir Konzept und Doku erstellt und alles als Plugin bereitgestellt. Auf dem Mac läuft es, unter Windows blockieren uns noch BTC-seitige Sicherheitseinstellungen.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0:30
Was bringt das? Man bucht schneller, der Kalender sorgt dafür, dass nichts vergessen wird, es läuft über das Firmen-Login und nichts wird ohne Bestätigung gebucht. Als Nächstes wollen wir Windows zum Laufen bringen, die Freigabe testen und das Plugin für alle bereitstellen. Weitere Quellen wie Jira oder Teams wären der nächste Ausbau.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0:20
Wer es selbst ausprobieren will: In Claude Code den Marktplatz hinzufügen und das Plugin installieren, das sind zwei Befehle. Für Buchungen aus dem Kalender zusätzlich einmal in claude.ai den Microsoft-365-Connector verbinden. Danach einfach „Zeig meine Woche“ eingeben. Die ausführliche Anleitung steht in unserer Confluence-Doku.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0:10
Danke fürs Zuhören! Fragen?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30"/>
        </a:solidFill>
        <a:effectLst/>
      </p:bgPr>
    </p:bg>
    <p:spTree>
      <p:nvGrpSpPr>
        <p:cNvPr id="1" name=""/>
        <p:cNvGrpSpPr/>
        <p:nvPr/>
      </p:nvGrpSpPr>
      <p:grpSpPr>
        <a:xfrm>
          <a:off x="0" y="0"/>
          <a:ext cx="0" cy="0"/>
          <a:chOff x="0" y="0"/>
          <a:chExt cx="0" cy="0"/>
        </a:xfrm>
      </p:grpSpPr>
      <p:sp>
        <p:nvSpPr>
          <p:cNvPr id="2" name="Text 0"/>
          <p:cNvSpPr txBox="1"/>
          <p:nvPr/>
        </p:nvSpPr>
        <p:spPr>
          <a:xfrm>
            <a:off x="548640" y="1234440"/>
            <a:ext cx="5486400" cy="320040"/>
          </a:xfrm>
          <a:prstGeom prst="rect">
            <a:avLst/>
          </a:prstGeom>
          <a:noFill/>
          <a:ln/>
        </p:spPr>
        <p:txBody>
          <a:bodyPr wrap="square" lIns="0" tIns="0" rIns="0" bIns="0" rtlCol="0" anchor="ctr"/>
          <a:lstStyle/>
          <a:p>
            <a:pPr marL="0" indent="0">
              <a:buNone/>
            </a:pPr>
            <a:r>
              <a:rPr lang="en-US" sz="1300" b="1" kern="0" spc="400" dirty="0">
                <a:solidFill>
                  <a:srgbClr val="F2A93B"/>
                </a:solidFill>
                <a:latin typeface="Arial" pitchFamily="34" charset="0"/>
                <a:ea typeface="Arial" pitchFamily="34" charset="-122"/>
                <a:cs typeface="Arial" pitchFamily="34" charset="-120"/>
              </a:rPr>
              <a:t>KI GAMEDAY  ·  GRUPPE 7</a:t>
            </a:r>
            <a:endParaRPr lang="en-US" sz="1300" dirty="0"/>
          </a:p>
        </p:txBody>
      </p:sp>
      <p:sp>
        <p:nvSpPr>
          <p:cNvPr id="3" name="Text 1"/>
          <p:cNvSpPr txBox="1"/>
          <p:nvPr/>
        </p:nvSpPr>
        <p:spPr>
          <a:xfrm>
            <a:off x="548640" y="1645920"/>
            <a:ext cx="5669280" cy="1188720"/>
          </a:xfrm>
          <a:prstGeom prst="rect">
            <a:avLst/>
          </a:prstGeom>
          <a:noFill/>
          <a:ln/>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Zeiterfassung per Zuruf</a:t>
            </a:r>
            <a:endParaRPr lang="en-US" sz="4200" dirty="0"/>
          </a:p>
        </p:txBody>
      </p:sp>
      <p:sp>
        <p:nvSpPr>
          <p:cNvPr id="4" name="Text 2"/>
          <p:cNvSpPr txBox="1"/>
          <p:nvPr/>
        </p:nvSpPr>
        <p:spPr>
          <a:xfrm>
            <a:off x="548640" y="3108960"/>
            <a:ext cx="5303520" cy="731520"/>
          </a:xfrm>
          <a:prstGeom prst="rect">
            <a:avLst/>
          </a:prstGeom>
          <a:noFill/>
          <a:ln/>
        </p:spPr>
        <p:txBody>
          <a:bodyPr wrap="square" lIns="0" tIns="0" rIns="0" bIns="0" rtlCol="0" anchor="t"/>
          <a:lstStyle/>
          <a:p>
            <a:pPr marL="0" indent="0">
              <a:buNone/>
            </a:pPr>
            <a:r>
              <a:rPr lang="en-US" sz="1800" dirty="0">
                <a:solidFill>
                  <a:srgbClr val="C9CED8"/>
                </a:solidFill>
                <a:latin typeface="Calibri" pitchFamily="34" charset="0"/>
                <a:ea typeface="Calibri" pitchFamily="34" charset="-122"/>
                <a:cs typeface="Calibri" pitchFamily="34" charset="-120"/>
              </a:rPr>
              <a:t>Claude bucht unsere SAP-Zeiten, direkt aus dem Outlook-Kalender</a:t>
            </a:r>
            <a:endParaRPr lang="en-US" sz="1800" dirty="0"/>
          </a:p>
        </p:txBody>
      </p:sp>
      <p:sp>
        <p:nvSpPr>
          <p:cNvPr id="5" name="Text 3"/>
          <p:cNvSpPr txBox="1"/>
          <p:nvPr/>
        </p:nvSpPr>
        <p:spPr>
          <a:xfrm>
            <a:off x="548640" y="4389120"/>
            <a:ext cx="5486400" cy="274320"/>
          </a:xfrm>
          <a:prstGeom prst="rect">
            <a:avLst/>
          </a:prstGeom>
          <a:noFill/>
          <a:ln/>
        </p:spPr>
        <p:txBody>
          <a:bodyPr wrap="square" lIns="0" tIns="0" rIns="0" bIns="0" rtlCol="0" anchor="ctr"/>
          <a:lstStyle/>
          <a:p>
            <a:pPr marL="0" indent="0">
              <a:buNone/>
            </a:pPr>
            <a:r>
              <a:rPr lang="en-US" sz="1100" dirty="0">
                <a:solidFill>
                  <a:srgbClr val="5F6675"/>
                </a:solidFill>
                <a:latin typeface="Calibri" pitchFamily="34" charset="0"/>
                <a:ea typeface="Calibri" pitchFamily="34" charset="-122"/>
                <a:cs typeface="Calibri" pitchFamily="34" charset="-120"/>
              </a:rPr>
              <a:t>Zeiterfassung Agent  ·  KI-unterstützte Zeiterfassung</a:t>
            </a:r>
            <a:endParaRPr lang="en-US" sz="1100" dirty="0"/>
          </a:p>
        </p:txBody>
      </p:sp>
      <p:sp>
        <p:nvSpPr>
          <p:cNvPr id="6" name="Shape 4"/>
          <p:cNvSpPr/>
          <p:nvPr/>
        </p:nvSpPr>
        <p:spPr>
          <a:xfrm>
            <a:off x="6400800" y="1417320"/>
            <a:ext cx="2011680" cy="2011680"/>
          </a:xfrm>
          <a:prstGeom prst="ellipse">
            <a:avLst/>
          </a:prstGeom>
          <a:solidFill>
            <a:srgbClr val="F2A93B"/>
          </a:solidFill>
          <a:ln w="12700">
            <a:solidFill>
              <a:srgbClr val="F2A93B"/>
            </a:solidFill>
            <a:prstDash val="solid"/>
          </a:ln>
        </p:spPr>
        <p:txBody>
          <a:bodyPr/>
          <a:lstStyle/>
          <a:p>
            <a:endParaRPr lang="de-DE"/>
          </a:p>
        </p:txBody>
      </p:sp>
      <p:pic>
        <p:nvPicPr>
          <p:cNvPr id="7" name="Image 0" descr="preencoded.png"/>
          <p:cNvPicPr>
            <a:picLocks noChangeAspect="1"/>
          </p:cNvPicPr>
          <p:nvPr/>
        </p:nvPicPr>
        <p:blipFill>
          <a:blip r:embed="rId3"/>
          <a:stretch>
            <a:fillRect/>
          </a:stretch>
        </p:blipFill>
        <p:spPr>
          <a:xfrm>
            <a:off x="6903720" y="192024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200" b="1" dirty="0">
                <a:solidFill>
                  <a:srgbClr val="1E2230"/>
                </a:solidFill>
                <a:latin typeface="Arial" pitchFamily="34" charset="0"/>
                <a:ea typeface="Arial" pitchFamily="34" charset="-122"/>
                <a:cs typeface="Arial" pitchFamily="34" charset="-120"/>
              </a:rPr>
              <a:t>Zeiterfassung kostet Zeit</a:t>
            </a:r>
            <a:endParaRPr lang="en-US" sz="3200" dirty="0"/>
          </a:p>
        </p:txBody>
      </p:sp>
      <p:sp>
        <p:nvSpPr>
          <p:cNvPr id="3" name="Text 1"/>
          <p:cNvSpPr txBox="1"/>
          <p:nvPr/>
        </p:nvSpPr>
        <p:spPr>
          <a:xfrm>
            <a:off x="548640" y="1005840"/>
            <a:ext cx="8046720" cy="365760"/>
          </a:xfrm>
          <a:prstGeom prst="rect">
            <a:avLst/>
          </a:prstGeom>
          <a:noFill/>
          <a:ln/>
        </p:spPr>
        <p:txBody>
          <a:bodyPr wrap="square" lIns="0" tIns="0" rIns="0" bIns="0" rtlCol="0" anchor="ctr"/>
          <a:lstStyle/>
          <a:p>
            <a:pPr marL="0" indent="0">
              <a:buNone/>
            </a:pPr>
            <a:r>
              <a:rPr lang="en-US" sz="1600" dirty="0">
                <a:solidFill>
                  <a:srgbClr val="5F6675"/>
                </a:solidFill>
                <a:latin typeface="Calibri" pitchFamily="34" charset="0"/>
                <a:ea typeface="Calibri" pitchFamily="34" charset="-122"/>
                <a:cs typeface="Calibri" pitchFamily="34" charset="-120"/>
              </a:rPr>
              <a:t>Jede Woche dasselbe Ritual in der Fiori-App.</a:t>
            </a:r>
            <a:endParaRPr lang="en-US" sz="1600" dirty="0"/>
          </a:p>
        </p:txBody>
      </p:sp>
      <p:sp>
        <p:nvSpPr>
          <p:cNvPr id="4" name="Shape 2"/>
          <p:cNvSpPr/>
          <p:nvPr/>
        </p:nvSpPr>
        <p:spPr>
          <a:xfrm>
            <a:off x="548640" y="1691640"/>
            <a:ext cx="2560320" cy="2834640"/>
          </a:xfrm>
          <a:prstGeom prst="roundRect">
            <a:avLst>
              <a:gd name="adj" fmla="val 4286"/>
            </a:avLst>
          </a:prstGeom>
          <a:solidFill>
            <a:srgbClr val="F3F4F7"/>
          </a:solidFill>
          <a:ln w="12700">
            <a:solidFill>
              <a:srgbClr val="F3F4F7"/>
            </a:solidFill>
            <a:prstDash val="solid"/>
          </a:ln>
        </p:spPr>
        <p:txBody>
          <a:bodyPr/>
          <a:lstStyle/>
          <a:p>
            <a:endParaRPr lang="de-DE"/>
          </a:p>
        </p:txBody>
      </p:sp>
      <p:sp>
        <p:nvSpPr>
          <p:cNvPr id="5" name="Shape 3"/>
          <p:cNvSpPr/>
          <p:nvPr/>
        </p:nvSpPr>
        <p:spPr>
          <a:xfrm>
            <a:off x="822960" y="1965960"/>
            <a:ext cx="685800" cy="685800"/>
          </a:xfrm>
          <a:prstGeom prst="ellipse">
            <a:avLst/>
          </a:prstGeom>
          <a:solidFill>
            <a:srgbClr val="F2A93B"/>
          </a:solidFill>
          <a:ln w="12700">
            <a:solidFill>
              <a:srgbClr val="F2A93B"/>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994410" y="2137410"/>
            <a:ext cx="342900" cy="342900"/>
          </a:xfrm>
          <a:prstGeom prst="rect">
            <a:avLst/>
          </a:prstGeom>
        </p:spPr>
      </p:pic>
      <p:sp>
        <p:nvSpPr>
          <p:cNvPr id="7" name="Text 4"/>
          <p:cNvSpPr txBox="1"/>
          <p:nvPr/>
        </p:nvSpPr>
        <p:spPr>
          <a:xfrm>
            <a:off x="822960" y="2834640"/>
            <a:ext cx="2011680" cy="365760"/>
          </a:xfrm>
          <a:prstGeom prst="rect">
            <a:avLst/>
          </a:prstGeom>
          <a:noFill/>
          <a:ln/>
        </p:spPr>
        <p:txBody>
          <a:bodyPr wrap="square" lIns="0" tIns="0" rIns="0" bIns="0" rtlCol="0" anchor="ctr"/>
          <a:lstStyle/>
          <a:p>
            <a:pPr marL="0" indent="0">
              <a:buNone/>
            </a:pPr>
            <a:r>
              <a:rPr lang="en-US" sz="1700" b="1" dirty="0">
                <a:solidFill>
                  <a:srgbClr val="1E2230"/>
                </a:solidFill>
                <a:latin typeface="Arial" pitchFamily="34" charset="0"/>
                <a:ea typeface="Arial" pitchFamily="34" charset="-122"/>
                <a:cs typeface="Arial" pitchFamily="34" charset="-120"/>
              </a:rPr>
              <a:t>Viele Klicks</a:t>
            </a:r>
            <a:endParaRPr lang="en-US" sz="1700" dirty="0"/>
          </a:p>
        </p:txBody>
      </p:sp>
      <p:sp>
        <p:nvSpPr>
          <p:cNvPr id="8" name="Text 5"/>
          <p:cNvSpPr txBox="1"/>
          <p:nvPr/>
        </p:nvSpPr>
        <p:spPr>
          <a:xfrm>
            <a:off x="822960" y="3246120"/>
            <a:ext cx="2011680" cy="1097280"/>
          </a:xfrm>
          <a:prstGeom prst="rect">
            <a:avLst/>
          </a:prstGeom>
          <a:noFill/>
          <a:ln/>
        </p:spPr>
        <p:txBody>
          <a:bodyPr wrap="square" lIns="0" tIns="0" rIns="0" bIns="0" rtlCol="0" anchor="t"/>
          <a:lstStyle/>
          <a:p>
            <a:pPr marL="0" indent="0">
              <a:buNone/>
            </a:pPr>
            <a:r>
              <a:rPr lang="en-US" sz="1400" dirty="0">
                <a:solidFill>
                  <a:srgbClr val="5F6675"/>
                </a:solidFill>
                <a:latin typeface="Calibri" pitchFamily="34" charset="0"/>
                <a:ea typeface="Calibri" pitchFamily="34" charset="-122"/>
                <a:cs typeface="Calibri" pitchFamily="34" charset="-120"/>
              </a:rPr>
              <a:t>Jede Buchung einzeln anlegen: Datum, Uhrzeit, Projekt, Kurztext.</a:t>
            </a:r>
            <a:endParaRPr lang="en-US" sz="1400" dirty="0"/>
          </a:p>
        </p:txBody>
      </p:sp>
      <p:sp>
        <p:nvSpPr>
          <p:cNvPr id="9" name="Shape 6"/>
          <p:cNvSpPr/>
          <p:nvPr/>
        </p:nvSpPr>
        <p:spPr>
          <a:xfrm>
            <a:off x="3291840" y="1691640"/>
            <a:ext cx="2560320" cy="2834640"/>
          </a:xfrm>
          <a:prstGeom prst="roundRect">
            <a:avLst>
              <a:gd name="adj" fmla="val 4286"/>
            </a:avLst>
          </a:prstGeom>
          <a:solidFill>
            <a:srgbClr val="F3F4F7"/>
          </a:solidFill>
          <a:ln w="12700">
            <a:solidFill>
              <a:srgbClr val="F3F4F7"/>
            </a:solidFill>
            <a:prstDash val="solid"/>
          </a:ln>
        </p:spPr>
        <p:txBody>
          <a:bodyPr/>
          <a:lstStyle/>
          <a:p>
            <a:endParaRPr lang="de-DE"/>
          </a:p>
        </p:txBody>
      </p:sp>
      <p:sp>
        <p:nvSpPr>
          <p:cNvPr id="10" name="Shape 7"/>
          <p:cNvSpPr/>
          <p:nvPr/>
        </p:nvSpPr>
        <p:spPr>
          <a:xfrm>
            <a:off x="3566160" y="1965960"/>
            <a:ext cx="685800" cy="685800"/>
          </a:xfrm>
          <a:prstGeom prst="ellipse">
            <a:avLst/>
          </a:prstGeom>
          <a:solidFill>
            <a:srgbClr val="F2A93B"/>
          </a:solidFill>
          <a:ln w="12700">
            <a:solidFill>
              <a:srgbClr val="F2A93B"/>
            </a:solidFill>
            <a:prstDash val="solid"/>
          </a:ln>
        </p:spPr>
        <p:txBody>
          <a:bodyPr/>
          <a:lstStyle/>
          <a:p>
            <a:endParaRPr lang="de-DE"/>
          </a:p>
        </p:txBody>
      </p:sp>
      <p:pic>
        <p:nvPicPr>
          <p:cNvPr id="11" name="Image 1" descr="preencoded.png"/>
          <p:cNvPicPr>
            <a:picLocks noChangeAspect="1"/>
          </p:cNvPicPr>
          <p:nvPr/>
        </p:nvPicPr>
        <p:blipFill>
          <a:blip r:embed="rId4"/>
          <a:stretch>
            <a:fillRect/>
          </a:stretch>
        </p:blipFill>
        <p:spPr>
          <a:xfrm>
            <a:off x="3737610" y="2137410"/>
            <a:ext cx="342900" cy="342900"/>
          </a:xfrm>
          <a:prstGeom prst="rect">
            <a:avLst/>
          </a:prstGeom>
        </p:spPr>
      </p:pic>
      <p:sp>
        <p:nvSpPr>
          <p:cNvPr id="12" name="Text 8"/>
          <p:cNvSpPr txBox="1"/>
          <p:nvPr/>
        </p:nvSpPr>
        <p:spPr>
          <a:xfrm>
            <a:off x="3566160" y="2834640"/>
            <a:ext cx="2011680" cy="365760"/>
          </a:xfrm>
          <a:prstGeom prst="rect">
            <a:avLst/>
          </a:prstGeom>
          <a:noFill/>
          <a:ln/>
        </p:spPr>
        <p:txBody>
          <a:bodyPr wrap="square" lIns="0" tIns="0" rIns="0" bIns="0" rtlCol="0" anchor="ctr"/>
          <a:lstStyle/>
          <a:p>
            <a:pPr marL="0" indent="0">
              <a:buNone/>
            </a:pPr>
            <a:r>
              <a:rPr lang="en-US" sz="1700" b="1" dirty="0">
                <a:solidFill>
                  <a:srgbClr val="1E2230"/>
                </a:solidFill>
                <a:latin typeface="Arial" pitchFamily="34" charset="0"/>
                <a:ea typeface="Arial" pitchFamily="34" charset="-122"/>
                <a:cs typeface="Arial" pitchFamily="34" charset="-120"/>
              </a:rPr>
              <a:t>Projekte suchen</a:t>
            </a:r>
            <a:endParaRPr lang="en-US" sz="1700" dirty="0"/>
          </a:p>
        </p:txBody>
      </p:sp>
      <p:sp>
        <p:nvSpPr>
          <p:cNvPr id="13" name="Text 9"/>
          <p:cNvSpPr txBox="1"/>
          <p:nvPr/>
        </p:nvSpPr>
        <p:spPr>
          <a:xfrm>
            <a:off x="3566160" y="3246120"/>
            <a:ext cx="2011680" cy="1097280"/>
          </a:xfrm>
          <a:prstGeom prst="rect">
            <a:avLst/>
          </a:prstGeom>
          <a:noFill/>
          <a:ln/>
        </p:spPr>
        <p:txBody>
          <a:bodyPr wrap="square" lIns="0" tIns="0" rIns="0" bIns="0" rtlCol="0" anchor="t"/>
          <a:lstStyle/>
          <a:p>
            <a:pPr marL="0" indent="0">
              <a:buNone/>
            </a:pPr>
            <a:r>
              <a:rPr lang="en-US" sz="1400" dirty="0">
                <a:solidFill>
                  <a:srgbClr val="5F6675"/>
                </a:solidFill>
                <a:latin typeface="Calibri" pitchFamily="34" charset="0"/>
                <a:ea typeface="Calibri" pitchFamily="34" charset="-122"/>
                <a:cs typeface="Calibri" pitchFamily="34" charset="-120"/>
              </a:rPr>
              <a:t>Welches PSP-Element war das noch mal? Nummern nachschlagen.</a:t>
            </a:r>
            <a:endParaRPr lang="en-US" sz="1400" dirty="0"/>
          </a:p>
        </p:txBody>
      </p:sp>
      <p:sp>
        <p:nvSpPr>
          <p:cNvPr id="14" name="Shape 10"/>
          <p:cNvSpPr/>
          <p:nvPr/>
        </p:nvSpPr>
        <p:spPr>
          <a:xfrm>
            <a:off x="6035040" y="1691640"/>
            <a:ext cx="2560320" cy="2834640"/>
          </a:xfrm>
          <a:prstGeom prst="roundRect">
            <a:avLst>
              <a:gd name="adj" fmla="val 4286"/>
            </a:avLst>
          </a:prstGeom>
          <a:solidFill>
            <a:srgbClr val="F3F4F7"/>
          </a:solidFill>
          <a:ln w="12700">
            <a:solidFill>
              <a:srgbClr val="F3F4F7"/>
            </a:solidFill>
            <a:prstDash val="solid"/>
          </a:ln>
        </p:spPr>
        <p:txBody>
          <a:bodyPr/>
          <a:lstStyle/>
          <a:p>
            <a:endParaRPr lang="de-DE"/>
          </a:p>
        </p:txBody>
      </p:sp>
      <p:sp>
        <p:nvSpPr>
          <p:cNvPr id="15" name="Shape 11"/>
          <p:cNvSpPr/>
          <p:nvPr/>
        </p:nvSpPr>
        <p:spPr>
          <a:xfrm>
            <a:off x="6309360" y="1965960"/>
            <a:ext cx="685800" cy="685800"/>
          </a:xfrm>
          <a:prstGeom prst="ellipse">
            <a:avLst/>
          </a:prstGeom>
          <a:solidFill>
            <a:srgbClr val="F2A93B"/>
          </a:solidFill>
          <a:ln w="12700">
            <a:solidFill>
              <a:srgbClr val="F2A93B"/>
            </a:solidFill>
            <a:prstDash val="solid"/>
          </a:ln>
        </p:spPr>
        <p:txBody>
          <a:bodyPr/>
          <a:lstStyle/>
          <a:p>
            <a:endParaRPr lang="de-DE"/>
          </a:p>
        </p:txBody>
      </p:sp>
      <p:pic>
        <p:nvPicPr>
          <p:cNvPr id="16" name="Image 2" descr="preencoded.png"/>
          <p:cNvPicPr>
            <a:picLocks noChangeAspect="1"/>
          </p:cNvPicPr>
          <p:nvPr/>
        </p:nvPicPr>
        <p:blipFill>
          <a:blip r:embed="rId5"/>
          <a:stretch>
            <a:fillRect/>
          </a:stretch>
        </p:blipFill>
        <p:spPr>
          <a:xfrm>
            <a:off x="6480810" y="2137410"/>
            <a:ext cx="342900" cy="342900"/>
          </a:xfrm>
          <a:prstGeom prst="rect">
            <a:avLst/>
          </a:prstGeom>
        </p:spPr>
      </p:pic>
      <p:sp>
        <p:nvSpPr>
          <p:cNvPr id="17" name="Text 12"/>
          <p:cNvSpPr txBox="1"/>
          <p:nvPr/>
        </p:nvSpPr>
        <p:spPr>
          <a:xfrm>
            <a:off x="6309360" y="2834640"/>
            <a:ext cx="2011680" cy="365760"/>
          </a:xfrm>
          <a:prstGeom prst="rect">
            <a:avLst/>
          </a:prstGeom>
          <a:noFill/>
          <a:ln/>
        </p:spPr>
        <p:txBody>
          <a:bodyPr wrap="square" lIns="0" tIns="0" rIns="0" bIns="0" rtlCol="0" anchor="ctr"/>
          <a:lstStyle/>
          <a:p>
            <a:pPr marL="0" indent="0">
              <a:buNone/>
            </a:pPr>
            <a:r>
              <a:rPr lang="en-US" sz="1700" b="1" dirty="0">
                <a:solidFill>
                  <a:srgbClr val="1E2230"/>
                </a:solidFill>
                <a:latin typeface="Arial" pitchFamily="34" charset="0"/>
                <a:ea typeface="Arial" pitchFamily="34" charset="-122"/>
                <a:cs typeface="Arial" pitchFamily="34" charset="-120"/>
              </a:rPr>
              <a:t>Kalender abtippen</a:t>
            </a:r>
            <a:endParaRPr lang="en-US" sz="1700" dirty="0"/>
          </a:p>
        </p:txBody>
      </p:sp>
      <p:sp>
        <p:nvSpPr>
          <p:cNvPr id="18" name="Text 13"/>
          <p:cNvSpPr txBox="1"/>
          <p:nvPr/>
        </p:nvSpPr>
        <p:spPr>
          <a:xfrm>
            <a:off x="6309360" y="3246120"/>
            <a:ext cx="2011680" cy="1097280"/>
          </a:xfrm>
          <a:prstGeom prst="rect">
            <a:avLst/>
          </a:prstGeom>
          <a:noFill/>
          <a:ln/>
        </p:spPr>
        <p:txBody>
          <a:bodyPr wrap="square" lIns="0" tIns="0" rIns="0" bIns="0" rtlCol="0" anchor="t"/>
          <a:lstStyle/>
          <a:p>
            <a:pPr marL="0" indent="0">
              <a:buNone/>
            </a:pPr>
            <a:r>
              <a:rPr lang="en-US" sz="1400" dirty="0">
                <a:solidFill>
                  <a:srgbClr val="5F6675"/>
                </a:solidFill>
                <a:latin typeface="Calibri" pitchFamily="34" charset="0"/>
                <a:ea typeface="Calibri" pitchFamily="34" charset="-122"/>
                <a:cs typeface="Calibri" pitchFamily="34" charset="-120"/>
              </a:rPr>
              <a:t>Die Termine stehen längst in Outlook und werden trotzdem von Hand übertragen.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200" b="1" dirty="0">
                <a:solidFill>
                  <a:srgbClr val="1E2230"/>
                </a:solidFill>
                <a:latin typeface="Arial" pitchFamily="34" charset="0"/>
                <a:ea typeface="Arial" pitchFamily="34" charset="-122"/>
                <a:cs typeface="Arial" pitchFamily="34" charset="-120"/>
              </a:rPr>
              <a:t>Sag einfach, was du gemacht hast</a:t>
            </a:r>
            <a:endParaRPr lang="en-US" sz="3200" dirty="0"/>
          </a:p>
        </p:txBody>
      </p:sp>
      <p:sp>
        <p:nvSpPr>
          <p:cNvPr id="3" name="Shape 1"/>
          <p:cNvSpPr/>
          <p:nvPr/>
        </p:nvSpPr>
        <p:spPr>
          <a:xfrm>
            <a:off x="548640" y="1188720"/>
            <a:ext cx="6217920" cy="685800"/>
          </a:xfrm>
          <a:prstGeom prst="roundRect">
            <a:avLst>
              <a:gd name="adj" fmla="val 20000"/>
            </a:avLst>
          </a:prstGeom>
          <a:solidFill>
            <a:srgbClr val="1E2230"/>
          </a:solidFill>
          <a:ln w="12700">
            <a:solidFill>
              <a:srgbClr val="1E2230"/>
            </a:solidFill>
            <a:prstDash val="solid"/>
          </a:ln>
        </p:spPr>
        <p:txBody>
          <a:bodyPr/>
          <a:lstStyle/>
          <a:p>
            <a:endParaRPr lang="de-DE"/>
          </a:p>
        </p:txBody>
      </p:sp>
      <p:sp>
        <p:nvSpPr>
          <p:cNvPr id="4" name="Text 2"/>
          <p:cNvSpPr txBox="1"/>
          <p:nvPr/>
        </p:nvSpPr>
        <p:spPr>
          <a:xfrm>
            <a:off x="777240" y="1188720"/>
            <a:ext cx="5852160" cy="685800"/>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„Buch meinen gestrigen Tag anhand meines Kalenders“</a:t>
            </a:r>
            <a:endParaRPr lang="en-US" sz="1700" dirty="0"/>
          </a:p>
        </p:txBody>
      </p:sp>
      <p:sp>
        <p:nvSpPr>
          <p:cNvPr id="5" name="Shape 3"/>
          <p:cNvSpPr/>
          <p:nvPr/>
        </p:nvSpPr>
        <p:spPr>
          <a:xfrm>
            <a:off x="548640" y="2514600"/>
            <a:ext cx="777240" cy="777240"/>
          </a:xfrm>
          <a:prstGeom prst="ellipse">
            <a:avLst/>
          </a:prstGeom>
          <a:solidFill>
            <a:srgbClr val="F2A93B"/>
          </a:solidFill>
          <a:ln w="12700">
            <a:solidFill>
              <a:srgbClr val="F2A93B"/>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742950" y="2708910"/>
            <a:ext cx="388620" cy="388620"/>
          </a:xfrm>
          <a:prstGeom prst="rect">
            <a:avLst/>
          </a:prstGeom>
        </p:spPr>
      </p:pic>
      <p:sp>
        <p:nvSpPr>
          <p:cNvPr id="7" name="Shape 4"/>
          <p:cNvSpPr/>
          <p:nvPr/>
        </p:nvSpPr>
        <p:spPr>
          <a:xfrm>
            <a:off x="1508760" y="2903220"/>
            <a:ext cx="960120" cy="0"/>
          </a:xfrm>
          <a:prstGeom prst="line">
            <a:avLst/>
          </a:prstGeom>
          <a:noFill/>
          <a:ln w="25400">
            <a:solidFill>
              <a:srgbClr val="C9CED8"/>
            </a:solidFill>
            <a:prstDash val="solid"/>
            <a:tailEnd type="triangle"/>
          </a:ln>
        </p:spPr>
        <p:txBody>
          <a:bodyPr/>
          <a:lstStyle/>
          <a:p>
            <a:endParaRPr lang="de-DE"/>
          </a:p>
        </p:txBody>
      </p:sp>
      <p:sp>
        <p:nvSpPr>
          <p:cNvPr id="8" name="Text 5"/>
          <p:cNvSpPr txBox="1"/>
          <p:nvPr/>
        </p:nvSpPr>
        <p:spPr>
          <a:xfrm>
            <a:off x="548640" y="3520440"/>
            <a:ext cx="1828800" cy="36576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Anfrage an Claude</a:t>
            </a:r>
            <a:endParaRPr lang="en-US" sz="1500" dirty="0"/>
          </a:p>
        </p:txBody>
      </p:sp>
      <p:sp>
        <p:nvSpPr>
          <p:cNvPr id="9" name="Text 6"/>
          <p:cNvSpPr txBox="1"/>
          <p:nvPr/>
        </p:nvSpPr>
        <p:spPr>
          <a:xfrm>
            <a:off x="548640" y="3886200"/>
            <a:ext cx="1783080" cy="685800"/>
          </a:xfrm>
          <a:prstGeom prst="rect">
            <a:avLst/>
          </a:prstGeom>
          <a:noFill/>
          <a:ln/>
        </p:spPr>
        <p:txBody>
          <a:bodyPr wrap="square" lIns="0" tIns="0" rIns="0" bIns="0" rtlCol="0" anchor="t"/>
          <a:lstStyle/>
          <a:p>
            <a:pPr marL="0" indent="0">
              <a:buNone/>
            </a:pPr>
            <a:r>
              <a:rPr lang="en-US" sz="1300" dirty="0">
                <a:solidFill>
                  <a:srgbClr val="5F6675"/>
                </a:solidFill>
                <a:latin typeface="Calibri" pitchFamily="34" charset="0"/>
                <a:ea typeface="Calibri" pitchFamily="34" charset="-122"/>
                <a:cs typeface="Calibri" pitchFamily="34" charset="-120"/>
              </a:rPr>
              <a:t>in normaler Sprache</a:t>
            </a:r>
            <a:endParaRPr lang="en-US" sz="1300" dirty="0"/>
          </a:p>
        </p:txBody>
      </p:sp>
      <p:sp>
        <p:nvSpPr>
          <p:cNvPr id="10" name="Shape 7"/>
          <p:cNvSpPr/>
          <p:nvPr/>
        </p:nvSpPr>
        <p:spPr>
          <a:xfrm>
            <a:off x="2651760" y="2514600"/>
            <a:ext cx="777240" cy="777240"/>
          </a:xfrm>
          <a:prstGeom prst="ellipse">
            <a:avLst/>
          </a:prstGeom>
          <a:solidFill>
            <a:srgbClr val="F2A93B"/>
          </a:solidFill>
          <a:ln w="12700">
            <a:solidFill>
              <a:srgbClr val="F2A93B"/>
            </a:solidFill>
            <a:prstDash val="solid"/>
          </a:ln>
        </p:spPr>
        <p:txBody>
          <a:bodyPr/>
          <a:lstStyle/>
          <a:p>
            <a:endParaRPr lang="de-DE"/>
          </a:p>
        </p:txBody>
      </p:sp>
      <p:pic>
        <p:nvPicPr>
          <p:cNvPr id="11" name="Image 1" descr="preencoded.png"/>
          <p:cNvPicPr>
            <a:picLocks noChangeAspect="1"/>
          </p:cNvPicPr>
          <p:nvPr/>
        </p:nvPicPr>
        <p:blipFill>
          <a:blip r:embed="rId4"/>
          <a:stretch>
            <a:fillRect/>
          </a:stretch>
        </p:blipFill>
        <p:spPr>
          <a:xfrm>
            <a:off x="2846070" y="2708910"/>
            <a:ext cx="388620" cy="388620"/>
          </a:xfrm>
          <a:prstGeom prst="rect">
            <a:avLst/>
          </a:prstGeom>
        </p:spPr>
      </p:pic>
      <p:sp>
        <p:nvSpPr>
          <p:cNvPr id="12" name="Shape 8"/>
          <p:cNvSpPr/>
          <p:nvPr/>
        </p:nvSpPr>
        <p:spPr>
          <a:xfrm>
            <a:off x="3611880" y="2903220"/>
            <a:ext cx="960120" cy="0"/>
          </a:xfrm>
          <a:prstGeom prst="line">
            <a:avLst/>
          </a:prstGeom>
          <a:noFill/>
          <a:ln w="25400">
            <a:solidFill>
              <a:srgbClr val="C9CED8"/>
            </a:solidFill>
            <a:prstDash val="solid"/>
            <a:tailEnd type="triangle"/>
          </a:ln>
        </p:spPr>
        <p:txBody>
          <a:bodyPr/>
          <a:lstStyle/>
          <a:p>
            <a:endParaRPr lang="de-DE"/>
          </a:p>
        </p:txBody>
      </p:sp>
      <p:sp>
        <p:nvSpPr>
          <p:cNvPr id="13" name="Text 9"/>
          <p:cNvSpPr txBox="1"/>
          <p:nvPr/>
        </p:nvSpPr>
        <p:spPr>
          <a:xfrm>
            <a:off x="2651760" y="3520440"/>
            <a:ext cx="1828800" cy="36576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Claude schaut nach</a:t>
            </a:r>
            <a:endParaRPr lang="en-US" sz="1500" dirty="0"/>
          </a:p>
        </p:txBody>
      </p:sp>
      <p:sp>
        <p:nvSpPr>
          <p:cNvPr id="14" name="Text 10"/>
          <p:cNvSpPr txBox="1"/>
          <p:nvPr/>
        </p:nvSpPr>
        <p:spPr>
          <a:xfrm>
            <a:off x="2651760" y="3886200"/>
            <a:ext cx="1783080" cy="685800"/>
          </a:xfrm>
          <a:prstGeom prst="rect">
            <a:avLst/>
          </a:prstGeom>
          <a:noFill/>
          <a:ln/>
        </p:spPr>
        <p:txBody>
          <a:bodyPr wrap="square" lIns="0" tIns="0" rIns="0" bIns="0" rtlCol="0" anchor="t"/>
          <a:lstStyle/>
          <a:p>
            <a:pPr marL="0" indent="0">
              <a:buNone/>
            </a:pPr>
            <a:r>
              <a:rPr lang="en-US" sz="1300" dirty="0">
                <a:solidFill>
                  <a:srgbClr val="5F6675"/>
                </a:solidFill>
                <a:latin typeface="Calibri" pitchFamily="34" charset="0"/>
                <a:ea typeface="Calibri" pitchFamily="34" charset="-122"/>
                <a:cs typeface="Calibri" pitchFamily="34" charset="-120"/>
              </a:rPr>
              <a:t>Outlook-Kalender und bisherige Buchungen</a:t>
            </a:r>
            <a:endParaRPr lang="en-US" sz="1300" dirty="0"/>
          </a:p>
        </p:txBody>
      </p:sp>
      <p:sp>
        <p:nvSpPr>
          <p:cNvPr id="15" name="Shape 11"/>
          <p:cNvSpPr/>
          <p:nvPr/>
        </p:nvSpPr>
        <p:spPr>
          <a:xfrm>
            <a:off x="4754880" y="2514600"/>
            <a:ext cx="777240" cy="777240"/>
          </a:xfrm>
          <a:prstGeom prst="ellipse">
            <a:avLst/>
          </a:prstGeom>
          <a:solidFill>
            <a:srgbClr val="F2A93B"/>
          </a:solidFill>
          <a:ln w="12700">
            <a:solidFill>
              <a:srgbClr val="F2A93B"/>
            </a:solidFill>
            <a:prstDash val="solid"/>
          </a:ln>
        </p:spPr>
        <p:txBody>
          <a:bodyPr/>
          <a:lstStyle/>
          <a:p>
            <a:endParaRPr lang="de-DE"/>
          </a:p>
        </p:txBody>
      </p:sp>
      <p:pic>
        <p:nvPicPr>
          <p:cNvPr id="16" name="Image 2" descr="preencoded.png"/>
          <p:cNvPicPr>
            <a:picLocks noChangeAspect="1"/>
          </p:cNvPicPr>
          <p:nvPr/>
        </p:nvPicPr>
        <p:blipFill>
          <a:blip r:embed="rId5"/>
          <a:stretch>
            <a:fillRect/>
          </a:stretch>
        </p:blipFill>
        <p:spPr>
          <a:xfrm>
            <a:off x="4949190" y="2708910"/>
            <a:ext cx="388620" cy="388620"/>
          </a:xfrm>
          <a:prstGeom prst="rect">
            <a:avLst/>
          </a:prstGeom>
        </p:spPr>
      </p:pic>
      <p:sp>
        <p:nvSpPr>
          <p:cNvPr id="17" name="Shape 12"/>
          <p:cNvSpPr/>
          <p:nvPr/>
        </p:nvSpPr>
        <p:spPr>
          <a:xfrm>
            <a:off x="5715000" y="2903220"/>
            <a:ext cx="960120" cy="0"/>
          </a:xfrm>
          <a:prstGeom prst="line">
            <a:avLst/>
          </a:prstGeom>
          <a:noFill/>
          <a:ln w="25400">
            <a:solidFill>
              <a:srgbClr val="C9CED8"/>
            </a:solidFill>
            <a:prstDash val="solid"/>
            <a:tailEnd type="triangle"/>
          </a:ln>
        </p:spPr>
        <p:txBody>
          <a:bodyPr/>
          <a:lstStyle/>
          <a:p>
            <a:endParaRPr lang="de-DE"/>
          </a:p>
        </p:txBody>
      </p:sp>
      <p:sp>
        <p:nvSpPr>
          <p:cNvPr id="18" name="Text 13"/>
          <p:cNvSpPr txBox="1"/>
          <p:nvPr/>
        </p:nvSpPr>
        <p:spPr>
          <a:xfrm>
            <a:off x="4754880" y="3520440"/>
            <a:ext cx="1828800" cy="36576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Vorschlag prüfen</a:t>
            </a:r>
            <a:endParaRPr lang="en-US" sz="1500" dirty="0"/>
          </a:p>
        </p:txBody>
      </p:sp>
      <p:sp>
        <p:nvSpPr>
          <p:cNvPr id="19" name="Text 14"/>
          <p:cNvSpPr txBox="1"/>
          <p:nvPr/>
        </p:nvSpPr>
        <p:spPr>
          <a:xfrm>
            <a:off x="4754880" y="3886200"/>
            <a:ext cx="1783080" cy="685800"/>
          </a:xfrm>
          <a:prstGeom prst="rect">
            <a:avLst/>
          </a:prstGeom>
          <a:noFill/>
          <a:ln/>
        </p:spPr>
        <p:txBody>
          <a:bodyPr wrap="square" lIns="0" tIns="0" rIns="0" bIns="0" rtlCol="0" anchor="t"/>
          <a:lstStyle/>
          <a:p>
            <a:pPr marL="0" indent="0">
              <a:buNone/>
            </a:pPr>
            <a:r>
              <a:rPr lang="en-US" sz="1300" dirty="0">
                <a:solidFill>
                  <a:srgbClr val="5F6675"/>
                </a:solidFill>
                <a:latin typeface="Calibri" pitchFamily="34" charset="0"/>
                <a:ea typeface="Calibri" pitchFamily="34" charset="-122"/>
                <a:cs typeface="Calibri" pitchFamily="34" charset="-120"/>
              </a:rPr>
              <a:t>Tabelle mit Zeiten, Projekten und Texten</a:t>
            </a:r>
            <a:endParaRPr lang="en-US" sz="1300" dirty="0"/>
          </a:p>
        </p:txBody>
      </p:sp>
      <p:sp>
        <p:nvSpPr>
          <p:cNvPr id="20" name="Shape 15"/>
          <p:cNvSpPr/>
          <p:nvPr/>
        </p:nvSpPr>
        <p:spPr>
          <a:xfrm>
            <a:off x="6858000" y="2514600"/>
            <a:ext cx="777240" cy="777240"/>
          </a:xfrm>
          <a:prstGeom prst="ellipse">
            <a:avLst/>
          </a:prstGeom>
          <a:solidFill>
            <a:srgbClr val="2A9D8F"/>
          </a:solidFill>
          <a:ln w="12700">
            <a:solidFill>
              <a:srgbClr val="2A9D8F"/>
            </a:solidFill>
            <a:prstDash val="solid"/>
          </a:ln>
        </p:spPr>
        <p:txBody>
          <a:bodyPr/>
          <a:lstStyle/>
          <a:p>
            <a:endParaRPr lang="de-DE"/>
          </a:p>
        </p:txBody>
      </p:sp>
      <p:pic>
        <p:nvPicPr>
          <p:cNvPr id="21" name="Image 3" descr="preencoded.png"/>
          <p:cNvPicPr>
            <a:picLocks noChangeAspect="1"/>
          </p:cNvPicPr>
          <p:nvPr/>
        </p:nvPicPr>
        <p:blipFill>
          <a:blip r:embed="rId6"/>
          <a:stretch>
            <a:fillRect/>
          </a:stretch>
        </p:blipFill>
        <p:spPr>
          <a:xfrm>
            <a:off x="7052310" y="2708910"/>
            <a:ext cx="388620" cy="388620"/>
          </a:xfrm>
          <a:prstGeom prst="rect">
            <a:avLst/>
          </a:prstGeom>
        </p:spPr>
      </p:pic>
      <p:sp>
        <p:nvSpPr>
          <p:cNvPr id="22" name="Text 16"/>
          <p:cNvSpPr txBox="1"/>
          <p:nvPr/>
        </p:nvSpPr>
        <p:spPr>
          <a:xfrm>
            <a:off x="6858000" y="3520440"/>
            <a:ext cx="1828800" cy="36576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Gebucht in SAP</a:t>
            </a:r>
            <a:endParaRPr lang="en-US" sz="1500" dirty="0"/>
          </a:p>
        </p:txBody>
      </p:sp>
      <p:sp>
        <p:nvSpPr>
          <p:cNvPr id="23" name="Text 17"/>
          <p:cNvSpPr txBox="1"/>
          <p:nvPr/>
        </p:nvSpPr>
        <p:spPr>
          <a:xfrm>
            <a:off x="6858000" y="3886200"/>
            <a:ext cx="1783080" cy="685800"/>
          </a:xfrm>
          <a:prstGeom prst="rect">
            <a:avLst/>
          </a:prstGeom>
          <a:noFill/>
          <a:ln/>
        </p:spPr>
        <p:txBody>
          <a:bodyPr wrap="square" lIns="0" tIns="0" rIns="0" bIns="0" rtlCol="0" anchor="t"/>
          <a:lstStyle/>
          <a:p>
            <a:pPr marL="0" indent="0">
              <a:buNone/>
            </a:pPr>
            <a:r>
              <a:rPr lang="en-US" sz="1300" dirty="0">
                <a:solidFill>
                  <a:srgbClr val="5F6675"/>
                </a:solidFill>
                <a:latin typeface="Calibri" pitchFamily="34" charset="0"/>
                <a:ea typeface="Calibri" pitchFamily="34" charset="-122"/>
                <a:cs typeface="Calibri" pitchFamily="34" charset="-120"/>
              </a:rPr>
              <a:t>erst nach deiner Bestätigung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230"/>
        </a:solidFill>
        <a:effectLst/>
      </p:bgPr>
    </p:bg>
    <p:spTree>
      <p:nvGrpSpPr>
        <p:cNvPr id="1" name=""/>
        <p:cNvGrpSpPr/>
        <p:nvPr/>
      </p:nvGrpSpPr>
      <p:grpSpPr>
        <a:xfrm>
          <a:off x="0" y="0"/>
          <a:ext cx="0" cy="0"/>
          <a:chOff x="0" y="0"/>
          <a:chExt cx="0" cy="0"/>
        </a:xfrm>
      </p:grpSpPr>
      <p:sp>
        <p:nvSpPr>
          <p:cNvPr id="2" name="Shape 0"/>
          <p:cNvSpPr/>
          <p:nvPr/>
        </p:nvSpPr>
        <p:spPr>
          <a:xfrm>
            <a:off x="548640" y="1097280"/>
            <a:ext cx="1005840" cy="1005840"/>
          </a:xfrm>
          <a:prstGeom prst="ellipse">
            <a:avLst/>
          </a:prstGeom>
          <a:solidFill>
            <a:srgbClr val="F2A93B"/>
          </a:solidFill>
          <a:ln w="12700">
            <a:solidFill>
              <a:srgbClr val="F2A93B"/>
            </a:solidFill>
            <a:prstDash val="solid"/>
          </a:ln>
        </p:spPr>
        <p:txBody>
          <a:bodyPr/>
          <a:lstStyle/>
          <a:p>
            <a:endParaRPr lang="de-DE"/>
          </a:p>
        </p:txBody>
      </p:sp>
      <p:pic>
        <p:nvPicPr>
          <p:cNvPr id="3" name="Image 0" descr="preencoded.png"/>
          <p:cNvPicPr>
            <a:picLocks noChangeAspect="1"/>
          </p:cNvPicPr>
          <p:nvPr/>
        </p:nvPicPr>
        <p:blipFill>
          <a:blip r:embed="rId3"/>
          <a:stretch>
            <a:fillRect/>
          </a:stretch>
        </p:blipFill>
        <p:spPr>
          <a:xfrm>
            <a:off x="800100" y="1348740"/>
            <a:ext cx="502920" cy="502920"/>
          </a:xfrm>
          <a:prstGeom prst="rect">
            <a:avLst/>
          </a:prstGeom>
        </p:spPr>
      </p:pic>
      <p:sp>
        <p:nvSpPr>
          <p:cNvPr id="4" name="Text 1"/>
          <p:cNvSpPr txBox="1"/>
          <p:nvPr/>
        </p:nvSpPr>
        <p:spPr>
          <a:xfrm>
            <a:off x="548640" y="2331720"/>
            <a:ext cx="329184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Live-Demo</a:t>
            </a:r>
            <a:endParaRPr lang="en-US" sz="4000" dirty="0"/>
          </a:p>
        </p:txBody>
      </p:sp>
      <p:sp>
        <p:nvSpPr>
          <p:cNvPr id="5" name="Text 2"/>
          <p:cNvSpPr txBox="1"/>
          <p:nvPr/>
        </p:nvSpPr>
        <p:spPr>
          <a:xfrm>
            <a:off x="548640" y="3200400"/>
            <a:ext cx="3108960" cy="640080"/>
          </a:xfrm>
          <a:prstGeom prst="rect">
            <a:avLst/>
          </a:prstGeom>
          <a:noFill/>
          <a:ln/>
        </p:spPr>
        <p:txBody>
          <a:bodyPr wrap="square" lIns="0" tIns="0" rIns="0" bIns="0" rtlCol="0" anchor="t"/>
          <a:lstStyle/>
          <a:p>
            <a:pPr marL="0" indent="0">
              <a:buNone/>
            </a:pPr>
            <a:r>
              <a:rPr lang="en-US" sz="1500" dirty="0">
                <a:solidFill>
                  <a:srgbClr val="C9CED8"/>
                </a:solidFill>
                <a:latin typeface="Calibri" pitchFamily="34" charset="0"/>
                <a:ea typeface="Calibri" pitchFamily="34" charset="-122"/>
                <a:cs typeface="Calibri" pitchFamily="34" charset="-120"/>
              </a:rPr>
              <a:t>Achtet auf die Vorschau vor jeder Buchung.</a:t>
            </a:r>
            <a:endParaRPr lang="en-US" sz="1500" dirty="0"/>
          </a:p>
        </p:txBody>
      </p:sp>
      <p:sp>
        <p:nvSpPr>
          <p:cNvPr id="6" name="Shape 3"/>
          <p:cNvSpPr/>
          <p:nvPr/>
        </p:nvSpPr>
        <p:spPr>
          <a:xfrm>
            <a:off x="4206240" y="1097280"/>
            <a:ext cx="4389120" cy="777240"/>
          </a:xfrm>
          <a:prstGeom prst="roundRect">
            <a:avLst>
              <a:gd name="adj" fmla="val 17647"/>
            </a:avLst>
          </a:prstGeom>
          <a:solidFill>
            <a:srgbClr val="2B3142"/>
          </a:solidFill>
          <a:ln w="12700">
            <a:solidFill>
              <a:srgbClr val="2B3142"/>
            </a:solidFill>
            <a:prstDash val="solid"/>
          </a:ln>
        </p:spPr>
        <p:txBody>
          <a:bodyPr/>
          <a:lstStyle/>
          <a:p>
            <a:endParaRPr lang="de-DE"/>
          </a:p>
        </p:txBody>
      </p:sp>
      <p:sp>
        <p:nvSpPr>
          <p:cNvPr id="7" name="Text 4"/>
          <p:cNvSpPr txBox="1"/>
          <p:nvPr/>
        </p:nvSpPr>
        <p:spPr>
          <a:xfrm>
            <a:off x="4434840" y="1097280"/>
            <a:ext cx="365760" cy="777240"/>
          </a:xfrm>
          <a:prstGeom prst="rect">
            <a:avLst/>
          </a:prstGeom>
          <a:noFill/>
          <a:ln/>
        </p:spPr>
        <p:txBody>
          <a:bodyPr wrap="square" lIns="0" tIns="0" rIns="0" bIns="0" rtlCol="0" anchor="ctr"/>
          <a:lstStyle/>
          <a:p>
            <a:pPr marL="0" indent="0">
              <a:buNone/>
            </a:pPr>
            <a:r>
              <a:rPr lang="en-US" sz="2200" b="1" dirty="0">
                <a:solidFill>
                  <a:srgbClr val="F2A93B"/>
                </a:solidFill>
                <a:latin typeface="Arial" pitchFamily="34" charset="0"/>
                <a:ea typeface="Arial" pitchFamily="34" charset="-122"/>
                <a:cs typeface="Arial" pitchFamily="34" charset="-120"/>
              </a:rPr>
              <a:t>1</a:t>
            </a:r>
            <a:endParaRPr lang="en-US" sz="2200" dirty="0"/>
          </a:p>
        </p:txBody>
      </p:sp>
      <p:sp>
        <p:nvSpPr>
          <p:cNvPr id="8" name="Text 5"/>
          <p:cNvSpPr txBox="1"/>
          <p:nvPr/>
        </p:nvSpPr>
        <p:spPr>
          <a:xfrm>
            <a:off x="4892040" y="1097280"/>
            <a:ext cx="356616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„Zeig meine Woche“</a:t>
            </a:r>
            <a:endParaRPr lang="en-US" sz="1600" dirty="0"/>
          </a:p>
        </p:txBody>
      </p:sp>
      <p:sp>
        <p:nvSpPr>
          <p:cNvPr id="9" name="Shape 6"/>
          <p:cNvSpPr/>
          <p:nvPr/>
        </p:nvSpPr>
        <p:spPr>
          <a:xfrm>
            <a:off x="4206240" y="2103120"/>
            <a:ext cx="4389120" cy="777240"/>
          </a:xfrm>
          <a:prstGeom prst="roundRect">
            <a:avLst>
              <a:gd name="adj" fmla="val 17647"/>
            </a:avLst>
          </a:prstGeom>
          <a:solidFill>
            <a:srgbClr val="2B3142"/>
          </a:solidFill>
          <a:ln w="12700">
            <a:solidFill>
              <a:srgbClr val="2B3142"/>
            </a:solidFill>
            <a:prstDash val="solid"/>
          </a:ln>
        </p:spPr>
        <p:txBody>
          <a:bodyPr/>
          <a:lstStyle/>
          <a:p>
            <a:endParaRPr lang="de-DE"/>
          </a:p>
        </p:txBody>
      </p:sp>
      <p:sp>
        <p:nvSpPr>
          <p:cNvPr id="10" name="Text 7"/>
          <p:cNvSpPr txBox="1"/>
          <p:nvPr/>
        </p:nvSpPr>
        <p:spPr>
          <a:xfrm>
            <a:off x="4434840" y="2103120"/>
            <a:ext cx="365760" cy="777240"/>
          </a:xfrm>
          <a:prstGeom prst="rect">
            <a:avLst/>
          </a:prstGeom>
          <a:noFill/>
          <a:ln/>
        </p:spPr>
        <p:txBody>
          <a:bodyPr wrap="square" lIns="0" tIns="0" rIns="0" bIns="0" rtlCol="0" anchor="ctr"/>
          <a:lstStyle/>
          <a:p>
            <a:pPr marL="0" indent="0">
              <a:buNone/>
            </a:pPr>
            <a:r>
              <a:rPr lang="en-US" sz="2200" b="1" dirty="0">
                <a:solidFill>
                  <a:srgbClr val="F2A93B"/>
                </a:solidFill>
                <a:latin typeface="Arial" pitchFamily="34" charset="0"/>
                <a:ea typeface="Arial" pitchFamily="34" charset="-122"/>
                <a:cs typeface="Arial" pitchFamily="34" charset="-120"/>
              </a:rPr>
              <a:t>2</a:t>
            </a:r>
            <a:endParaRPr lang="en-US" sz="2200" dirty="0"/>
          </a:p>
        </p:txBody>
      </p:sp>
      <p:sp>
        <p:nvSpPr>
          <p:cNvPr id="11" name="Text 8"/>
          <p:cNvSpPr txBox="1"/>
          <p:nvPr/>
        </p:nvSpPr>
        <p:spPr>
          <a:xfrm>
            <a:off x="4892040" y="2103120"/>
            <a:ext cx="356616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„Buch meinen gestrigen Tag aus dem Kalender“</a:t>
            </a:r>
            <a:endParaRPr lang="en-US" sz="1600" dirty="0"/>
          </a:p>
        </p:txBody>
      </p:sp>
      <p:sp>
        <p:nvSpPr>
          <p:cNvPr id="12" name="Shape 9"/>
          <p:cNvSpPr/>
          <p:nvPr/>
        </p:nvSpPr>
        <p:spPr>
          <a:xfrm>
            <a:off x="4206240" y="3108960"/>
            <a:ext cx="4389120" cy="777240"/>
          </a:xfrm>
          <a:prstGeom prst="roundRect">
            <a:avLst>
              <a:gd name="adj" fmla="val 17647"/>
            </a:avLst>
          </a:prstGeom>
          <a:solidFill>
            <a:srgbClr val="2B3142"/>
          </a:solidFill>
          <a:ln w="12700">
            <a:solidFill>
              <a:srgbClr val="2B3142"/>
            </a:solidFill>
            <a:prstDash val="solid"/>
          </a:ln>
        </p:spPr>
        <p:txBody>
          <a:bodyPr/>
          <a:lstStyle/>
          <a:p>
            <a:endParaRPr lang="de-DE"/>
          </a:p>
        </p:txBody>
      </p:sp>
      <p:sp>
        <p:nvSpPr>
          <p:cNvPr id="13" name="Text 10"/>
          <p:cNvSpPr txBox="1"/>
          <p:nvPr/>
        </p:nvSpPr>
        <p:spPr>
          <a:xfrm>
            <a:off x="4434840" y="3108960"/>
            <a:ext cx="365760" cy="777240"/>
          </a:xfrm>
          <a:prstGeom prst="rect">
            <a:avLst/>
          </a:prstGeom>
          <a:noFill/>
          <a:ln/>
        </p:spPr>
        <p:txBody>
          <a:bodyPr wrap="square" lIns="0" tIns="0" rIns="0" bIns="0" rtlCol="0" anchor="ctr"/>
          <a:lstStyle/>
          <a:p>
            <a:pPr marL="0" indent="0">
              <a:buNone/>
            </a:pPr>
            <a:r>
              <a:rPr lang="en-US" sz="2200" b="1" dirty="0">
                <a:solidFill>
                  <a:srgbClr val="F2A93B"/>
                </a:solidFill>
                <a:latin typeface="Arial" pitchFamily="34" charset="0"/>
                <a:ea typeface="Arial" pitchFamily="34" charset="-122"/>
                <a:cs typeface="Arial" pitchFamily="34" charset="-120"/>
              </a:rPr>
              <a:t>3</a:t>
            </a:r>
            <a:endParaRPr lang="en-US" sz="2200" dirty="0"/>
          </a:p>
        </p:txBody>
      </p:sp>
      <p:sp>
        <p:nvSpPr>
          <p:cNvPr id="14" name="Text 11"/>
          <p:cNvSpPr txBox="1"/>
          <p:nvPr/>
        </p:nvSpPr>
        <p:spPr>
          <a:xfrm>
            <a:off x="4892040" y="3108960"/>
            <a:ext cx="3566160" cy="7772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„Passt so, buch das“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200" b="1" dirty="0">
                <a:solidFill>
                  <a:srgbClr val="1E2230"/>
                </a:solidFill>
                <a:latin typeface="Arial" pitchFamily="34" charset="0"/>
                <a:ea typeface="Arial" pitchFamily="34" charset="-122"/>
                <a:cs typeface="Arial" pitchFamily="34" charset="-120"/>
              </a:rPr>
              <a:t>Unsere Schritte am Gameday</a:t>
            </a:r>
            <a:endParaRPr lang="en-US" sz="3200" dirty="0"/>
          </a:p>
        </p:txBody>
      </p:sp>
      <p:sp>
        <p:nvSpPr>
          <p:cNvPr id="3" name="Shape 1"/>
          <p:cNvSpPr/>
          <p:nvPr/>
        </p:nvSpPr>
        <p:spPr>
          <a:xfrm>
            <a:off x="1219200" y="1874520"/>
            <a:ext cx="6705600" cy="0"/>
          </a:xfrm>
          <a:prstGeom prst="line">
            <a:avLst/>
          </a:prstGeom>
          <a:noFill/>
          <a:ln w="25400">
            <a:solidFill>
              <a:srgbClr val="C9CED8"/>
            </a:solidFill>
            <a:prstDash val="solid"/>
          </a:ln>
        </p:spPr>
        <p:txBody>
          <a:bodyPr/>
          <a:lstStyle/>
          <a:p>
            <a:endParaRPr lang="de-DE"/>
          </a:p>
        </p:txBody>
      </p:sp>
      <p:sp>
        <p:nvSpPr>
          <p:cNvPr id="4" name="Shape 2"/>
          <p:cNvSpPr/>
          <p:nvPr/>
        </p:nvSpPr>
        <p:spPr>
          <a:xfrm>
            <a:off x="944880" y="1600200"/>
            <a:ext cx="548640" cy="548640"/>
          </a:xfrm>
          <a:prstGeom prst="ellipse">
            <a:avLst/>
          </a:prstGeom>
          <a:solidFill>
            <a:srgbClr val="F2A93B"/>
          </a:solidFill>
          <a:ln w="25400">
            <a:solidFill>
              <a:srgbClr val="F2A93B"/>
            </a:solidFill>
            <a:prstDash val="solid"/>
          </a:ln>
        </p:spPr>
        <p:txBody>
          <a:bodyPr/>
          <a:lstStyle/>
          <a:p>
            <a:endParaRPr lang="de-DE"/>
          </a:p>
        </p:txBody>
      </p:sp>
      <p:sp>
        <p:nvSpPr>
          <p:cNvPr id="5" name="Text 3"/>
          <p:cNvSpPr txBox="1"/>
          <p:nvPr/>
        </p:nvSpPr>
        <p:spPr>
          <a:xfrm>
            <a:off x="944880" y="1600200"/>
            <a:ext cx="548640" cy="548640"/>
          </a:xfrm>
          <a:prstGeom prst="rect">
            <a:avLst/>
          </a:prstGeom>
          <a:noFill/>
          <a:ln/>
        </p:spPr>
        <p:txBody>
          <a:bodyPr wrap="square" lIns="0" tIns="0" rIns="0" bIns="0" rtlCol="0" anchor="ctr"/>
          <a:lstStyle/>
          <a:p>
            <a:pPr marL="0" indent="0" algn="ctr">
              <a:buNone/>
            </a:pPr>
            <a:r>
              <a:rPr lang="en-US" sz="1800" b="1" dirty="0">
                <a:solidFill>
                  <a:srgbClr val="1E2230"/>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594360" y="2377440"/>
            <a:ext cx="1249680" cy="365760"/>
          </a:xfrm>
          <a:prstGeom prst="rect">
            <a:avLst/>
          </a:prstGeom>
          <a:noFill/>
          <a:ln/>
        </p:spPr>
        <p:txBody>
          <a:bodyPr wrap="square" lIns="0" tIns="0" rIns="0" bIns="0" rtlCol="0" anchor="ctr"/>
          <a:lstStyle/>
          <a:p>
            <a:pPr marL="0" indent="0" algn="ctr">
              <a:buNone/>
            </a:pPr>
            <a:r>
              <a:rPr lang="en-US" sz="1400" b="1" dirty="0">
                <a:solidFill>
                  <a:srgbClr val="1E2230"/>
                </a:solidFill>
                <a:latin typeface="Arial" pitchFamily="34" charset="0"/>
                <a:ea typeface="Arial" pitchFamily="34" charset="-122"/>
                <a:cs typeface="Arial" pitchFamily="34" charset="-120"/>
              </a:rPr>
              <a:t>Grobkonzept</a:t>
            </a:r>
            <a:endParaRPr lang="en-US" sz="1400" dirty="0"/>
          </a:p>
        </p:txBody>
      </p:sp>
      <p:sp>
        <p:nvSpPr>
          <p:cNvPr id="7" name="Text 5"/>
          <p:cNvSpPr txBox="1"/>
          <p:nvPr/>
        </p:nvSpPr>
        <p:spPr>
          <a:xfrm>
            <a:off x="594360" y="2743200"/>
            <a:ext cx="1249680" cy="1280160"/>
          </a:xfrm>
          <a:prstGeom prst="rect">
            <a:avLst/>
          </a:prstGeom>
          <a:noFill/>
          <a:ln/>
        </p:spPr>
        <p:txBody>
          <a:bodyPr wrap="square" lIns="0" tIns="0" rIns="0" bIns="0" rtlCol="0" anchor="t"/>
          <a:lstStyle/>
          <a:p>
            <a:pPr marL="0" indent="0" algn="ctr">
              <a:buNone/>
            </a:pPr>
            <a:r>
              <a:rPr lang="en-US" sz="1200" dirty="0">
                <a:solidFill>
                  <a:srgbClr val="5F6675"/>
                </a:solidFill>
                <a:latin typeface="Calibri" pitchFamily="34" charset="0"/>
                <a:ea typeface="Calibri" pitchFamily="34" charset="-122"/>
                <a:cs typeface="Calibri" pitchFamily="34" charset="-120"/>
              </a:rPr>
              <a:t>Idee für ein Tool</a:t>
            </a:r>
            <a:endParaRPr lang="en-US" sz="1200" dirty="0"/>
          </a:p>
        </p:txBody>
      </p:sp>
      <p:sp>
        <p:nvSpPr>
          <p:cNvPr id="8" name="Shape 6"/>
          <p:cNvSpPr/>
          <p:nvPr/>
        </p:nvSpPr>
        <p:spPr>
          <a:xfrm>
            <a:off x="2286000" y="1600200"/>
            <a:ext cx="548640" cy="548640"/>
          </a:xfrm>
          <a:prstGeom prst="ellipse">
            <a:avLst/>
          </a:prstGeom>
          <a:solidFill>
            <a:srgbClr val="F2A93B"/>
          </a:solidFill>
          <a:ln w="25400">
            <a:solidFill>
              <a:srgbClr val="F2A93B"/>
            </a:solidFill>
            <a:prstDash val="solid"/>
          </a:ln>
        </p:spPr>
        <p:txBody>
          <a:bodyPr/>
          <a:lstStyle/>
          <a:p>
            <a:endParaRPr lang="de-DE"/>
          </a:p>
        </p:txBody>
      </p:sp>
      <p:sp>
        <p:nvSpPr>
          <p:cNvPr id="9" name="Text 7"/>
          <p:cNvSpPr txBox="1"/>
          <p:nvPr/>
        </p:nvSpPr>
        <p:spPr>
          <a:xfrm>
            <a:off x="2286000" y="1600200"/>
            <a:ext cx="548640" cy="548640"/>
          </a:xfrm>
          <a:prstGeom prst="rect">
            <a:avLst/>
          </a:prstGeom>
          <a:noFill/>
          <a:ln/>
        </p:spPr>
        <p:txBody>
          <a:bodyPr wrap="square" lIns="0" tIns="0" rIns="0" bIns="0" rtlCol="0" anchor="ctr"/>
          <a:lstStyle/>
          <a:p>
            <a:pPr marL="0" indent="0" algn="ctr">
              <a:buNone/>
            </a:pPr>
            <a:r>
              <a:rPr lang="en-US" sz="1800" b="1" dirty="0">
                <a:solidFill>
                  <a:srgbClr val="1E2230"/>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1935480" y="2377440"/>
            <a:ext cx="1249680" cy="365760"/>
          </a:xfrm>
          <a:prstGeom prst="rect">
            <a:avLst/>
          </a:prstGeom>
          <a:noFill/>
          <a:ln/>
        </p:spPr>
        <p:txBody>
          <a:bodyPr wrap="square" lIns="0" tIns="0" rIns="0" bIns="0" rtlCol="0" anchor="ctr"/>
          <a:lstStyle/>
          <a:p>
            <a:pPr marL="0" indent="0" algn="ctr">
              <a:buNone/>
            </a:pPr>
            <a:r>
              <a:rPr lang="en-US" sz="1400" b="1" dirty="0">
                <a:solidFill>
                  <a:srgbClr val="1E2230"/>
                </a:solidFill>
                <a:latin typeface="Arial" pitchFamily="34" charset="0"/>
                <a:ea typeface="Arial" pitchFamily="34" charset="-122"/>
                <a:cs typeface="Arial" pitchFamily="34" charset="-120"/>
              </a:rPr>
              <a:t>Recherche</a:t>
            </a:r>
            <a:endParaRPr lang="en-US" sz="1400" dirty="0"/>
          </a:p>
        </p:txBody>
      </p:sp>
      <p:sp>
        <p:nvSpPr>
          <p:cNvPr id="11" name="Text 9"/>
          <p:cNvSpPr txBox="1"/>
          <p:nvPr/>
        </p:nvSpPr>
        <p:spPr>
          <a:xfrm>
            <a:off x="1935480" y="2743200"/>
            <a:ext cx="1249680" cy="1280160"/>
          </a:xfrm>
          <a:prstGeom prst="rect">
            <a:avLst/>
          </a:prstGeom>
          <a:noFill/>
          <a:ln/>
        </p:spPr>
        <p:txBody>
          <a:bodyPr wrap="square" lIns="0" tIns="0" rIns="0" bIns="0" rtlCol="0" anchor="t"/>
          <a:lstStyle/>
          <a:p>
            <a:pPr marL="0" indent="0" algn="ctr">
              <a:buNone/>
            </a:pPr>
            <a:r>
              <a:rPr lang="en-US" sz="1200" dirty="0">
                <a:solidFill>
                  <a:srgbClr val="5F6675"/>
                </a:solidFill>
                <a:latin typeface="Calibri" pitchFamily="34" charset="0"/>
                <a:ea typeface="Calibri" pitchFamily="34" charset="-122"/>
                <a:cs typeface="Calibri" pitchFamily="34" charset="-120"/>
              </a:rPr>
              <a:t>SAP-Schnittstelle mit Claude erkundet</a:t>
            </a:r>
            <a:endParaRPr lang="en-US" sz="1200" dirty="0"/>
          </a:p>
        </p:txBody>
      </p:sp>
      <p:sp>
        <p:nvSpPr>
          <p:cNvPr id="12" name="Shape 10"/>
          <p:cNvSpPr/>
          <p:nvPr/>
        </p:nvSpPr>
        <p:spPr>
          <a:xfrm>
            <a:off x="3627120" y="1600200"/>
            <a:ext cx="548640" cy="548640"/>
          </a:xfrm>
          <a:prstGeom prst="ellipse">
            <a:avLst/>
          </a:prstGeom>
          <a:solidFill>
            <a:srgbClr val="F2A93B"/>
          </a:solidFill>
          <a:ln w="25400">
            <a:solidFill>
              <a:srgbClr val="F2A93B"/>
            </a:solidFill>
            <a:prstDash val="solid"/>
          </a:ln>
        </p:spPr>
        <p:txBody>
          <a:bodyPr/>
          <a:lstStyle/>
          <a:p>
            <a:endParaRPr lang="de-DE"/>
          </a:p>
        </p:txBody>
      </p:sp>
      <p:sp>
        <p:nvSpPr>
          <p:cNvPr id="13" name="Text 11"/>
          <p:cNvSpPr txBox="1"/>
          <p:nvPr/>
        </p:nvSpPr>
        <p:spPr>
          <a:xfrm>
            <a:off x="3627120" y="1600200"/>
            <a:ext cx="548640" cy="548640"/>
          </a:xfrm>
          <a:prstGeom prst="rect">
            <a:avLst/>
          </a:prstGeom>
          <a:noFill/>
          <a:ln/>
        </p:spPr>
        <p:txBody>
          <a:bodyPr wrap="square" lIns="0" tIns="0" rIns="0" bIns="0" rtlCol="0" anchor="ctr"/>
          <a:lstStyle/>
          <a:p>
            <a:pPr marL="0" indent="0" algn="ctr">
              <a:buNone/>
            </a:pPr>
            <a:r>
              <a:rPr lang="en-US" sz="1800" b="1" dirty="0">
                <a:solidFill>
                  <a:srgbClr val="1E2230"/>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3276600" y="2377440"/>
            <a:ext cx="1249680" cy="365760"/>
          </a:xfrm>
          <a:prstGeom prst="rect">
            <a:avLst/>
          </a:prstGeom>
          <a:noFill/>
          <a:ln/>
        </p:spPr>
        <p:txBody>
          <a:bodyPr wrap="square" lIns="0" tIns="0" rIns="0" bIns="0" rtlCol="0" anchor="ctr"/>
          <a:lstStyle/>
          <a:p>
            <a:pPr marL="0" indent="0" algn="ctr">
              <a:buNone/>
            </a:pPr>
            <a:r>
              <a:rPr lang="en-US" sz="1400" b="1" dirty="0">
                <a:solidFill>
                  <a:srgbClr val="1E2230"/>
                </a:solidFill>
                <a:latin typeface="Arial" pitchFamily="34" charset="0"/>
                <a:ea typeface="Arial" pitchFamily="34" charset="-122"/>
                <a:cs typeface="Arial" pitchFamily="34" charset="-120"/>
              </a:rPr>
              <a:t>Zwei Prompts</a:t>
            </a:r>
            <a:endParaRPr lang="en-US" sz="1400" dirty="0"/>
          </a:p>
        </p:txBody>
      </p:sp>
      <p:sp>
        <p:nvSpPr>
          <p:cNvPr id="15" name="Text 13"/>
          <p:cNvSpPr txBox="1"/>
          <p:nvPr/>
        </p:nvSpPr>
        <p:spPr>
          <a:xfrm>
            <a:off x="3276600" y="2743200"/>
            <a:ext cx="1249680" cy="1280160"/>
          </a:xfrm>
          <a:prstGeom prst="rect">
            <a:avLst/>
          </a:prstGeom>
          <a:noFill/>
          <a:ln/>
        </p:spPr>
        <p:txBody>
          <a:bodyPr wrap="square" lIns="0" tIns="0" rIns="0" bIns="0" rtlCol="0" anchor="t"/>
          <a:lstStyle/>
          <a:p>
            <a:pPr marL="0" indent="0" algn="ctr">
              <a:buNone/>
            </a:pPr>
            <a:r>
              <a:rPr lang="en-US" sz="1200" dirty="0">
                <a:solidFill>
                  <a:srgbClr val="5F6675"/>
                </a:solidFill>
                <a:latin typeface="Calibri" pitchFamily="34" charset="0"/>
                <a:ea typeface="Calibri" pitchFamily="34" charset="-122"/>
                <a:cs typeface="Calibri" pitchFamily="34" charset="-120"/>
              </a:rPr>
              <a:t>Claude schreibt den Code</a:t>
            </a:r>
            <a:endParaRPr lang="en-US" sz="1200" dirty="0"/>
          </a:p>
        </p:txBody>
      </p:sp>
      <p:sp>
        <p:nvSpPr>
          <p:cNvPr id="16" name="Shape 14"/>
          <p:cNvSpPr/>
          <p:nvPr/>
        </p:nvSpPr>
        <p:spPr>
          <a:xfrm>
            <a:off x="4968240" y="1600200"/>
            <a:ext cx="548640" cy="548640"/>
          </a:xfrm>
          <a:prstGeom prst="ellipse">
            <a:avLst/>
          </a:prstGeom>
          <a:solidFill>
            <a:srgbClr val="F2A93B"/>
          </a:solidFill>
          <a:ln w="25400">
            <a:solidFill>
              <a:srgbClr val="F2A93B"/>
            </a:solidFill>
            <a:prstDash val="solid"/>
          </a:ln>
        </p:spPr>
        <p:txBody>
          <a:bodyPr/>
          <a:lstStyle/>
          <a:p>
            <a:endParaRPr lang="de-DE"/>
          </a:p>
        </p:txBody>
      </p:sp>
      <p:sp>
        <p:nvSpPr>
          <p:cNvPr id="17" name="Text 15"/>
          <p:cNvSpPr txBox="1"/>
          <p:nvPr/>
        </p:nvSpPr>
        <p:spPr>
          <a:xfrm>
            <a:off x="4968240" y="1600200"/>
            <a:ext cx="548640" cy="548640"/>
          </a:xfrm>
          <a:prstGeom prst="rect">
            <a:avLst/>
          </a:prstGeom>
          <a:noFill/>
          <a:ln/>
        </p:spPr>
        <p:txBody>
          <a:bodyPr wrap="square" lIns="0" tIns="0" rIns="0" bIns="0" rtlCol="0" anchor="ctr"/>
          <a:lstStyle/>
          <a:p>
            <a:pPr marL="0" indent="0" algn="ctr">
              <a:buNone/>
            </a:pPr>
            <a:r>
              <a:rPr lang="en-US" sz="1800" b="1" dirty="0">
                <a:solidFill>
                  <a:srgbClr val="1E2230"/>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4617720" y="2377440"/>
            <a:ext cx="1249680" cy="365760"/>
          </a:xfrm>
          <a:prstGeom prst="rect">
            <a:avLst/>
          </a:prstGeom>
          <a:noFill/>
          <a:ln/>
        </p:spPr>
        <p:txBody>
          <a:bodyPr wrap="square" lIns="0" tIns="0" rIns="0" bIns="0" rtlCol="0" anchor="ctr"/>
          <a:lstStyle/>
          <a:p>
            <a:pPr marL="0" indent="0" algn="ctr">
              <a:buNone/>
            </a:pPr>
            <a:r>
              <a:rPr lang="en-US" sz="1400" b="1" dirty="0">
                <a:solidFill>
                  <a:srgbClr val="1E2230"/>
                </a:solidFill>
                <a:latin typeface="Arial" pitchFamily="34" charset="0"/>
                <a:ea typeface="Arial" pitchFamily="34" charset="-122"/>
                <a:cs typeface="Arial" pitchFamily="34" charset="-120"/>
              </a:rPr>
              <a:t>Konzept</a:t>
            </a:r>
            <a:endParaRPr lang="en-US" sz="1400" dirty="0"/>
          </a:p>
        </p:txBody>
      </p:sp>
      <p:sp>
        <p:nvSpPr>
          <p:cNvPr id="19" name="Text 17"/>
          <p:cNvSpPr txBox="1"/>
          <p:nvPr/>
        </p:nvSpPr>
        <p:spPr>
          <a:xfrm>
            <a:off x="4617720" y="2743200"/>
            <a:ext cx="1249680" cy="1280160"/>
          </a:xfrm>
          <a:prstGeom prst="rect">
            <a:avLst/>
          </a:prstGeom>
          <a:noFill/>
          <a:ln/>
        </p:spPr>
        <p:txBody>
          <a:bodyPr wrap="square" lIns="0" tIns="0" rIns="0" bIns="0" rtlCol="0" anchor="t"/>
          <a:lstStyle/>
          <a:p>
            <a:pPr marL="0" indent="0" algn="ctr">
              <a:buNone/>
            </a:pPr>
            <a:r>
              <a:rPr lang="en-US" sz="1200" dirty="0">
                <a:solidFill>
                  <a:srgbClr val="5F6675"/>
                </a:solidFill>
                <a:latin typeface="Calibri" pitchFamily="34" charset="0"/>
                <a:ea typeface="Calibri" pitchFamily="34" charset="-122"/>
                <a:cs typeface="Calibri" pitchFamily="34" charset="-120"/>
              </a:rPr>
              <a:t>Architektur und Doku mit Claude</a:t>
            </a:r>
            <a:endParaRPr lang="en-US" sz="1200" dirty="0"/>
          </a:p>
        </p:txBody>
      </p:sp>
      <p:sp>
        <p:nvSpPr>
          <p:cNvPr id="20" name="Shape 18"/>
          <p:cNvSpPr/>
          <p:nvPr/>
        </p:nvSpPr>
        <p:spPr>
          <a:xfrm>
            <a:off x="6309360" y="1600200"/>
            <a:ext cx="548640" cy="548640"/>
          </a:xfrm>
          <a:prstGeom prst="ellipse">
            <a:avLst/>
          </a:prstGeom>
          <a:solidFill>
            <a:srgbClr val="F2A93B"/>
          </a:solidFill>
          <a:ln w="25400">
            <a:solidFill>
              <a:srgbClr val="F2A93B"/>
            </a:solidFill>
            <a:prstDash val="solid"/>
          </a:ln>
        </p:spPr>
        <p:txBody>
          <a:bodyPr/>
          <a:lstStyle/>
          <a:p>
            <a:endParaRPr lang="de-DE"/>
          </a:p>
        </p:txBody>
      </p:sp>
      <p:sp>
        <p:nvSpPr>
          <p:cNvPr id="21" name="Text 19"/>
          <p:cNvSpPr txBox="1"/>
          <p:nvPr/>
        </p:nvSpPr>
        <p:spPr>
          <a:xfrm>
            <a:off x="6309360" y="1600200"/>
            <a:ext cx="548640" cy="548640"/>
          </a:xfrm>
          <a:prstGeom prst="rect">
            <a:avLst/>
          </a:prstGeom>
          <a:noFill/>
          <a:ln/>
        </p:spPr>
        <p:txBody>
          <a:bodyPr wrap="square" lIns="0" tIns="0" rIns="0" bIns="0" rtlCol="0" anchor="ctr"/>
          <a:lstStyle/>
          <a:p>
            <a:pPr marL="0" indent="0" algn="ctr">
              <a:buNone/>
            </a:pPr>
            <a:r>
              <a:rPr lang="en-US" sz="1800" b="1" dirty="0">
                <a:solidFill>
                  <a:srgbClr val="1E2230"/>
                </a:solidFill>
                <a:latin typeface="Arial" pitchFamily="34" charset="0"/>
                <a:ea typeface="Arial" pitchFamily="34" charset="-122"/>
                <a:cs typeface="Arial" pitchFamily="34" charset="-120"/>
              </a:rPr>
              <a:t>5</a:t>
            </a:r>
            <a:endParaRPr lang="en-US" sz="1800" dirty="0"/>
          </a:p>
        </p:txBody>
      </p:sp>
      <p:sp>
        <p:nvSpPr>
          <p:cNvPr id="22" name="Text 20"/>
          <p:cNvSpPr txBox="1"/>
          <p:nvPr/>
        </p:nvSpPr>
        <p:spPr>
          <a:xfrm>
            <a:off x="5958840" y="2377440"/>
            <a:ext cx="1249680" cy="365760"/>
          </a:xfrm>
          <a:prstGeom prst="rect">
            <a:avLst/>
          </a:prstGeom>
          <a:noFill/>
          <a:ln/>
        </p:spPr>
        <p:txBody>
          <a:bodyPr wrap="square" lIns="0" tIns="0" rIns="0" bIns="0" rtlCol="0" anchor="ctr"/>
          <a:lstStyle/>
          <a:p>
            <a:pPr marL="0" indent="0" algn="ctr">
              <a:buNone/>
            </a:pPr>
            <a:r>
              <a:rPr lang="en-US" sz="1400" b="1" dirty="0">
                <a:solidFill>
                  <a:srgbClr val="1E2230"/>
                </a:solidFill>
                <a:latin typeface="Arial" pitchFamily="34" charset="0"/>
                <a:ea typeface="Arial" pitchFamily="34" charset="-122"/>
                <a:cs typeface="Arial" pitchFamily="34" charset="-120"/>
              </a:rPr>
              <a:t>Bereitstellen</a:t>
            </a:r>
            <a:endParaRPr lang="en-US" sz="1400" dirty="0"/>
          </a:p>
        </p:txBody>
      </p:sp>
      <p:sp>
        <p:nvSpPr>
          <p:cNvPr id="23" name="Text 21"/>
          <p:cNvSpPr txBox="1"/>
          <p:nvPr/>
        </p:nvSpPr>
        <p:spPr>
          <a:xfrm>
            <a:off x="5958840" y="2743200"/>
            <a:ext cx="1249680" cy="1280160"/>
          </a:xfrm>
          <a:prstGeom prst="rect">
            <a:avLst/>
          </a:prstGeom>
          <a:noFill/>
          <a:ln/>
        </p:spPr>
        <p:txBody>
          <a:bodyPr wrap="square" lIns="0" tIns="0" rIns="0" bIns="0" rtlCol="0" anchor="t"/>
          <a:lstStyle/>
          <a:p>
            <a:pPr marL="0" indent="0" algn="ctr">
              <a:buNone/>
            </a:pPr>
            <a:r>
              <a:rPr lang="en-US" sz="1200" dirty="0">
                <a:solidFill>
                  <a:srgbClr val="5F6675"/>
                </a:solidFill>
                <a:latin typeface="Calibri" pitchFamily="34" charset="0"/>
                <a:ea typeface="Calibri" pitchFamily="34" charset="-122"/>
                <a:cs typeface="Calibri" pitchFamily="34" charset="-120"/>
              </a:rPr>
              <a:t>als Plugin im Git-Repo</a:t>
            </a:r>
            <a:endParaRPr lang="en-US" sz="1200" dirty="0"/>
          </a:p>
        </p:txBody>
      </p:sp>
      <p:sp>
        <p:nvSpPr>
          <p:cNvPr id="24" name="Shape 22"/>
          <p:cNvSpPr/>
          <p:nvPr/>
        </p:nvSpPr>
        <p:spPr>
          <a:xfrm>
            <a:off x="7650480" y="1600200"/>
            <a:ext cx="548640" cy="548640"/>
          </a:xfrm>
          <a:prstGeom prst="ellipse">
            <a:avLst/>
          </a:prstGeom>
          <a:solidFill>
            <a:srgbClr val="FFFFFF"/>
          </a:solidFill>
          <a:ln w="25400">
            <a:solidFill>
              <a:srgbClr val="F2A93B"/>
            </a:solidFill>
            <a:prstDash val="solid"/>
          </a:ln>
        </p:spPr>
        <p:txBody>
          <a:bodyPr/>
          <a:lstStyle/>
          <a:p>
            <a:endParaRPr lang="de-DE"/>
          </a:p>
        </p:txBody>
      </p:sp>
      <p:sp>
        <p:nvSpPr>
          <p:cNvPr id="25" name="Text 23"/>
          <p:cNvSpPr txBox="1"/>
          <p:nvPr/>
        </p:nvSpPr>
        <p:spPr>
          <a:xfrm>
            <a:off x="7650480" y="1600200"/>
            <a:ext cx="548640" cy="548640"/>
          </a:xfrm>
          <a:prstGeom prst="rect">
            <a:avLst/>
          </a:prstGeom>
          <a:noFill/>
          <a:ln/>
        </p:spPr>
        <p:txBody>
          <a:bodyPr wrap="square" lIns="0" tIns="0" rIns="0" bIns="0" rtlCol="0" anchor="ctr"/>
          <a:lstStyle/>
          <a:p>
            <a:pPr marL="0" indent="0" algn="ctr">
              <a:buNone/>
            </a:pPr>
            <a:r>
              <a:rPr lang="en-US" sz="1800" b="1" dirty="0">
                <a:solidFill>
                  <a:srgbClr val="1E2230"/>
                </a:solidFill>
                <a:latin typeface="Arial" pitchFamily="34" charset="0"/>
                <a:ea typeface="Arial" pitchFamily="34" charset="-122"/>
                <a:cs typeface="Arial" pitchFamily="34" charset="-120"/>
              </a:rPr>
              <a:t>6</a:t>
            </a:r>
            <a:endParaRPr lang="en-US" sz="1800" dirty="0"/>
          </a:p>
        </p:txBody>
      </p:sp>
      <p:sp>
        <p:nvSpPr>
          <p:cNvPr id="26" name="Text 24"/>
          <p:cNvSpPr txBox="1"/>
          <p:nvPr/>
        </p:nvSpPr>
        <p:spPr>
          <a:xfrm>
            <a:off x="7299960" y="2377440"/>
            <a:ext cx="1249680" cy="365760"/>
          </a:xfrm>
          <a:prstGeom prst="rect">
            <a:avLst/>
          </a:prstGeom>
          <a:noFill/>
          <a:ln/>
        </p:spPr>
        <p:txBody>
          <a:bodyPr wrap="square" lIns="0" tIns="0" rIns="0" bIns="0" rtlCol="0" anchor="ctr"/>
          <a:lstStyle/>
          <a:p>
            <a:pPr marL="0" indent="0" algn="ctr">
              <a:buNone/>
            </a:pPr>
            <a:r>
              <a:rPr lang="en-US" sz="1400" b="1" dirty="0">
                <a:solidFill>
                  <a:srgbClr val="1E2230"/>
                </a:solidFill>
                <a:latin typeface="Arial" pitchFamily="34" charset="0"/>
                <a:ea typeface="Arial" pitchFamily="34" charset="-122"/>
                <a:cs typeface="Arial" pitchFamily="34" charset="-120"/>
              </a:rPr>
              <a:t>Testen</a:t>
            </a:r>
            <a:endParaRPr lang="en-US" sz="1400" dirty="0"/>
          </a:p>
        </p:txBody>
      </p:sp>
      <p:sp>
        <p:nvSpPr>
          <p:cNvPr id="27" name="Text 25"/>
          <p:cNvSpPr txBox="1"/>
          <p:nvPr/>
        </p:nvSpPr>
        <p:spPr>
          <a:xfrm>
            <a:off x="7299960" y="2743200"/>
            <a:ext cx="1249680" cy="1280160"/>
          </a:xfrm>
          <a:prstGeom prst="rect">
            <a:avLst/>
          </a:prstGeom>
          <a:noFill/>
          <a:ln/>
        </p:spPr>
        <p:txBody>
          <a:bodyPr wrap="square" lIns="0" tIns="0" rIns="0" bIns="0" rtlCol="0" anchor="t"/>
          <a:lstStyle/>
          <a:p>
            <a:pPr marL="0" indent="0" algn="ctr">
              <a:buNone/>
            </a:pPr>
            <a:r>
              <a:rPr lang="en-US" sz="1200" dirty="0">
                <a:solidFill>
                  <a:srgbClr val="5F6675"/>
                </a:solidFill>
                <a:latin typeface="Calibri" pitchFamily="34" charset="0"/>
                <a:ea typeface="Calibri" pitchFamily="34" charset="-122"/>
                <a:cs typeface="Calibri" pitchFamily="34" charset="-120"/>
              </a:rPr>
              <a:t>Läuft auf dem Mac. Windows noch blockiert.</a:t>
            </a:r>
            <a:endParaRPr lang="en-US" sz="1200" dirty="0"/>
          </a:p>
        </p:txBody>
      </p:sp>
      <p:sp>
        <p:nvSpPr>
          <p:cNvPr id="28" name="Shape 26"/>
          <p:cNvSpPr/>
          <p:nvPr/>
        </p:nvSpPr>
        <p:spPr>
          <a:xfrm>
            <a:off x="548640" y="4069080"/>
            <a:ext cx="8046720" cy="594360"/>
          </a:xfrm>
          <a:prstGeom prst="roundRect">
            <a:avLst>
              <a:gd name="adj" fmla="val 15385"/>
            </a:avLst>
          </a:prstGeom>
          <a:solidFill>
            <a:srgbClr val="F3F4F7"/>
          </a:solidFill>
          <a:ln w="12700">
            <a:solidFill>
              <a:srgbClr val="F3F4F7"/>
            </a:solidFill>
            <a:prstDash val="solid"/>
          </a:ln>
        </p:spPr>
        <p:txBody>
          <a:bodyPr/>
          <a:lstStyle/>
          <a:p>
            <a:endParaRPr lang="de-DE"/>
          </a:p>
        </p:txBody>
      </p:sp>
      <p:pic>
        <p:nvPicPr>
          <p:cNvPr id="29" name="Image 0" descr="preencoded.png"/>
          <p:cNvPicPr>
            <a:picLocks noChangeAspect="1"/>
          </p:cNvPicPr>
          <p:nvPr/>
        </p:nvPicPr>
        <p:blipFill>
          <a:blip r:embed="rId3"/>
          <a:stretch>
            <a:fillRect/>
          </a:stretch>
        </p:blipFill>
        <p:spPr>
          <a:xfrm>
            <a:off x="777240" y="4206240"/>
            <a:ext cx="320040" cy="320040"/>
          </a:xfrm>
          <a:prstGeom prst="rect">
            <a:avLst/>
          </a:prstGeom>
        </p:spPr>
      </p:pic>
      <p:sp>
        <p:nvSpPr>
          <p:cNvPr id="30" name="Text 27"/>
          <p:cNvSpPr txBox="1"/>
          <p:nvPr/>
        </p:nvSpPr>
        <p:spPr>
          <a:xfrm>
            <a:off x="1280160" y="4069080"/>
            <a:ext cx="7132320" cy="594360"/>
          </a:xfrm>
          <a:prstGeom prst="rect">
            <a:avLst/>
          </a:prstGeom>
          <a:noFill/>
          <a:ln/>
        </p:spPr>
        <p:txBody>
          <a:bodyPr wrap="square" lIns="0" tIns="0" rIns="0" bIns="0" rtlCol="0" anchor="ctr"/>
          <a:lstStyle/>
          <a:p>
            <a:pPr marL="0" indent="0">
              <a:buNone/>
            </a:pPr>
            <a:r>
              <a:rPr lang="en-US" sz="1500" dirty="0">
                <a:solidFill>
                  <a:srgbClr val="1E2230"/>
                </a:solidFill>
                <a:latin typeface="Calibri" pitchFamily="34" charset="0"/>
                <a:ea typeface="Calibri" pitchFamily="34" charset="-122"/>
                <a:cs typeface="Calibri" pitchFamily="34" charset="-120"/>
              </a:rPr>
              <a:t>Claude war bei jedem Schritt dabei: von der API-Recherche bis zur Doku.</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200" b="1" dirty="0">
                <a:solidFill>
                  <a:srgbClr val="1E2230"/>
                </a:solidFill>
                <a:latin typeface="Arial" pitchFamily="34" charset="0"/>
                <a:ea typeface="Arial" pitchFamily="34" charset="-122"/>
                <a:cs typeface="Arial" pitchFamily="34" charset="-120"/>
              </a:rPr>
              <a:t>Was es bringt</a:t>
            </a:r>
            <a:endParaRPr lang="en-US" sz="3200" dirty="0"/>
          </a:p>
        </p:txBody>
      </p:sp>
      <p:sp>
        <p:nvSpPr>
          <p:cNvPr id="3" name="Shape 1"/>
          <p:cNvSpPr/>
          <p:nvPr/>
        </p:nvSpPr>
        <p:spPr>
          <a:xfrm>
            <a:off x="548640" y="1188720"/>
            <a:ext cx="594360" cy="594360"/>
          </a:xfrm>
          <a:prstGeom prst="ellipse">
            <a:avLst/>
          </a:prstGeom>
          <a:solidFill>
            <a:srgbClr val="F2A93B"/>
          </a:solidFill>
          <a:ln w="12700">
            <a:solidFill>
              <a:srgbClr val="F2A93B"/>
            </a:solidFill>
            <a:prstDash val="solid"/>
          </a:ln>
        </p:spPr>
        <p:txBody>
          <a:bodyPr/>
          <a:lstStyle/>
          <a:p>
            <a:endParaRPr lang="de-DE"/>
          </a:p>
        </p:txBody>
      </p:sp>
      <p:pic>
        <p:nvPicPr>
          <p:cNvPr id="4" name="Image 0" descr="preencoded.png"/>
          <p:cNvPicPr>
            <a:picLocks noChangeAspect="1"/>
          </p:cNvPicPr>
          <p:nvPr/>
        </p:nvPicPr>
        <p:blipFill>
          <a:blip r:embed="rId3"/>
          <a:stretch>
            <a:fillRect/>
          </a:stretch>
        </p:blipFill>
        <p:spPr>
          <a:xfrm>
            <a:off x="697230" y="1337310"/>
            <a:ext cx="297180" cy="297180"/>
          </a:xfrm>
          <a:prstGeom prst="rect">
            <a:avLst/>
          </a:prstGeom>
        </p:spPr>
      </p:pic>
      <p:sp>
        <p:nvSpPr>
          <p:cNvPr id="5" name="Text 2"/>
          <p:cNvSpPr txBox="1"/>
          <p:nvPr/>
        </p:nvSpPr>
        <p:spPr>
          <a:xfrm>
            <a:off x="1325880" y="1170432"/>
            <a:ext cx="3566160" cy="32004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Schneller gebucht</a:t>
            </a:r>
            <a:endParaRPr lang="en-US" sz="1500" dirty="0"/>
          </a:p>
        </p:txBody>
      </p:sp>
      <p:sp>
        <p:nvSpPr>
          <p:cNvPr id="6" name="Text 3"/>
          <p:cNvSpPr txBox="1"/>
          <p:nvPr/>
        </p:nvSpPr>
        <p:spPr>
          <a:xfrm>
            <a:off x="1325880" y="1490472"/>
            <a:ext cx="3566160" cy="320040"/>
          </a:xfrm>
          <a:prstGeom prst="rect">
            <a:avLst/>
          </a:prstGeom>
          <a:noFill/>
          <a:ln/>
        </p:spPr>
        <p:txBody>
          <a:bodyPr wrap="square" lIns="0" tIns="0" rIns="0" bIns="0" rtlCol="0" anchor="ctr"/>
          <a:lstStyle/>
          <a:p>
            <a:pPr marL="0" indent="0">
              <a:buNone/>
            </a:pPr>
            <a:r>
              <a:rPr lang="en-US" sz="1300" dirty="0">
                <a:solidFill>
                  <a:srgbClr val="5F6675"/>
                </a:solidFill>
                <a:latin typeface="Calibri" pitchFamily="34" charset="0"/>
                <a:ea typeface="Calibri" pitchFamily="34" charset="-122"/>
                <a:cs typeface="Calibri" pitchFamily="34" charset="-120"/>
              </a:rPr>
              <a:t>Ein Satz statt vieler Klicks</a:t>
            </a:r>
            <a:endParaRPr lang="en-US" sz="1300" dirty="0"/>
          </a:p>
        </p:txBody>
      </p:sp>
      <p:sp>
        <p:nvSpPr>
          <p:cNvPr id="7" name="Shape 4"/>
          <p:cNvSpPr/>
          <p:nvPr/>
        </p:nvSpPr>
        <p:spPr>
          <a:xfrm>
            <a:off x="548640" y="2057400"/>
            <a:ext cx="594360" cy="594360"/>
          </a:xfrm>
          <a:prstGeom prst="ellipse">
            <a:avLst/>
          </a:prstGeom>
          <a:solidFill>
            <a:srgbClr val="F2A93B"/>
          </a:solidFill>
          <a:ln w="12700">
            <a:solidFill>
              <a:srgbClr val="F2A93B"/>
            </a:solidFill>
            <a:prstDash val="solid"/>
          </a:ln>
        </p:spPr>
        <p:txBody>
          <a:bodyPr/>
          <a:lstStyle/>
          <a:p>
            <a:endParaRPr lang="de-DE"/>
          </a:p>
        </p:txBody>
      </p:sp>
      <p:pic>
        <p:nvPicPr>
          <p:cNvPr id="8" name="Image 1" descr="preencoded.png"/>
          <p:cNvPicPr>
            <a:picLocks noChangeAspect="1"/>
          </p:cNvPicPr>
          <p:nvPr/>
        </p:nvPicPr>
        <p:blipFill>
          <a:blip r:embed="rId4"/>
          <a:stretch>
            <a:fillRect/>
          </a:stretch>
        </p:blipFill>
        <p:spPr>
          <a:xfrm>
            <a:off x="697230" y="2205990"/>
            <a:ext cx="297180" cy="297180"/>
          </a:xfrm>
          <a:prstGeom prst="rect">
            <a:avLst/>
          </a:prstGeom>
        </p:spPr>
      </p:pic>
      <p:sp>
        <p:nvSpPr>
          <p:cNvPr id="9" name="Text 5"/>
          <p:cNvSpPr txBox="1"/>
          <p:nvPr/>
        </p:nvSpPr>
        <p:spPr>
          <a:xfrm>
            <a:off x="1325880" y="2039112"/>
            <a:ext cx="3566160" cy="32004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Kalender als Grundlage</a:t>
            </a:r>
            <a:endParaRPr lang="en-US" sz="1500" dirty="0"/>
          </a:p>
        </p:txBody>
      </p:sp>
      <p:sp>
        <p:nvSpPr>
          <p:cNvPr id="10" name="Text 6"/>
          <p:cNvSpPr txBox="1"/>
          <p:nvPr/>
        </p:nvSpPr>
        <p:spPr>
          <a:xfrm>
            <a:off x="1325880" y="2359152"/>
            <a:ext cx="3566160" cy="320040"/>
          </a:xfrm>
          <a:prstGeom prst="rect">
            <a:avLst/>
          </a:prstGeom>
          <a:noFill/>
          <a:ln/>
        </p:spPr>
        <p:txBody>
          <a:bodyPr wrap="square" lIns="0" tIns="0" rIns="0" bIns="0" rtlCol="0" anchor="ctr"/>
          <a:lstStyle/>
          <a:p>
            <a:pPr marL="0" indent="0">
              <a:buNone/>
            </a:pPr>
            <a:r>
              <a:rPr lang="en-US" sz="1300" dirty="0">
                <a:solidFill>
                  <a:srgbClr val="5F6675"/>
                </a:solidFill>
                <a:latin typeface="Calibri" pitchFamily="34" charset="0"/>
                <a:ea typeface="Calibri" pitchFamily="34" charset="-122"/>
                <a:cs typeface="Calibri" pitchFamily="34" charset="-120"/>
              </a:rPr>
              <a:t>Nichts vergessen, nichts doppelt</a:t>
            </a:r>
            <a:endParaRPr lang="en-US" sz="1300" dirty="0"/>
          </a:p>
        </p:txBody>
      </p:sp>
      <p:sp>
        <p:nvSpPr>
          <p:cNvPr id="11" name="Shape 7"/>
          <p:cNvSpPr/>
          <p:nvPr/>
        </p:nvSpPr>
        <p:spPr>
          <a:xfrm>
            <a:off x="548640" y="2926080"/>
            <a:ext cx="594360" cy="594360"/>
          </a:xfrm>
          <a:prstGeom prst="ellipse">
            <a:avLst/>
          </a:prstGeom>
          <a:solidFill>
            <a:srgbClr val="F2A93B"/>
          </a:solidFill>
          <a:ln w="12700">
            <a:solidFill>
              <a:srgbClr val="F2A93B"/>
            </a:solidFill>
            <a:prstDash val="solid"/>
          </a:ln>
        </p:spPr>
        <p:txBody>
          <a:bodyPr/>
          <a:lstStyle/>
          <a:p>
            <a:endParaRPr lang="de-DE"/>
          </a:p>
        </p:txBody>
      </p:sp>
      <p:pic>
        <p:nvPicPr>
          <p:cNvPr id="12" name="Image 2" descr="preencoded.png"/>
          <p:cNvPicPr>
            <a:picLocks noChangeAspect="1"/>
          </p:cNvPicPr>
          <p:nvPr/>
        </p:nvPicPr>
        <p:blipFill>
          <a:blip r:embed="rId5"/>
          <a:stretch>
            <a:fillRect/>
          </a:stretch>
        </p:blipFill>
        <p:spPr>
          <a:xfrm>
            <a:off x="697230" y="3074670"/>
            <a:ext cx="297180" cy="297180"/>
          </a:xfrm>
          <a:prstGeom prst="rect">
            <a:avLst/>
          </a:prstGeom>
        </p:spPr>
      </p:pic>
      <p:sp>
        <p:nvSpPr>
          <p:cNvPr id="13" name="Text 8"/>
          <p:cNvSpPr txBox="1"/>
          <p:nvPr/>
        </p:nvSpPr>
        <p:spPr>
          <a:xfrm>
            <a:off x="1325880" y="2907792"/>
            <a:ext cx="3566160" cy="32004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Sicher</a:t>
            </a:r>
            <a:endParaRPr lang="en-US" sz="1500" dirty="0"/>
          </a:p>
        </p:txBody>
      </p:sp>
      <p:sp>
        <p:nvSpPr>
          <p:cNvPr id="14" name="Text 9"/>
          <p:cNvSpPr txBox="1"/>
          <p:nvPr/>
        </p:nvSpPr>
        <p:spPr>
          <a:xfrm>
            <a:off x="1325880" y="3227832"/>
            <a:ext cx="3566160" cy="320040"/>
          </a:xfrm>
          <a:prstGeom prst="rect">
            <a:avLst/>
          </a:prstGeom>
          <a:noFill/>
          <a:ln/>
        </p:spPr>
        <p:txBody>
          <a:bodyPr wrap="square" lIns="0" tIns="0" rIns="0" bIns="0" rtlCol="0" anchor="ctr"/>
          <a:lstStyle/>
          <a:p>
            <a:pPr marL="0" indent="0">
              <a:buNone/>
            </a:pPr>
            <a:r>
              <a:rPr lang="en-US" sz="1300" dirty="0">
                <a:solidFill>
                  <a:srgbClr val="5F6675"/>
                </a:solidFill>
                <a:latin typeface="Calibri" pitchFamily="34" charset="0"/>
                <a:ea typeface="Calibri" pitchFamily="34" charset="-122"/>
                <a:cs typeface="Calibri" pitchFamily="34" charset="-120"/>
              </a:rPr>
              <a:t>Firmen-Login, kein Passwort gespeichert</a:t>
            </a:r>
            <a:endParaRPr lang="en-US" sz="1300" dirty="0"/>
          </a:p>
        </p:txBody>
      </p:sp>
      <p:sp>
        <p:nvSpPr>
          <p:cNvPr id="15" name="Shape 10"/>
          <p:cNvSpPr/>
          <p:nvPr/>
        </p:nvSpPr>
        <p:spPr>
          <a:xfrm>
            <a:off x="548640" y="3794760"/>
            <a:ext cx="594360" cy="594360"/>
          </a:xfrm>
          <a:prstGeom prst="ellipse">
            <a:avLst/>
          </a:prstGeom>
          <a:solidFill>
            <a:srgbClr val="F2A93B"/>
          </a:solidFill>
          <a:ln w="12700">
            <a:solidFill>
              <a:srgbClr val="F2A93B"/>
            </a:solidFill>
            <a:prstDash val="solid"/>
          </a:ln>
        </p:spPr>
        <p:txBody>
          <a:bodyPr/>
          <a:lstStyle/>
          <a:p>
            <a:endParaRPr lang="de-DE"/>
          </a:p>
        </p:txBody>
      </p:sp>
      <p:pic>
        <p:nvPicPr>
          <p:cNvPr id="16" name="Image 3" descr="preencoded.png"/>
          <p:cNvPicPr>
            <a:picLocks noChangeAspect="1"/>
          </p:cNvPicPr>
          <p:nvPr/>
        </p:nvPicPr>
        <p:blipFill>
          <a:blip r:embed="rId6"/>
          <a:stretch>
            <a:fillRect/>
          </a:stretch>
        </p:blipFill>
        <p:spPr>
          <a:xfrm>
            <a:off x="697230" y="3943350"/>
            <a:ext cx="297180" cy="297180"/>
          </a:xfrm>
          <a:prstGeom prst="rect">
            <a:avLst/>
          </a:prstGeom>
        </p:spPr>
      </p:pic>
      <p:sp>
        <p:nvSpPr>
          <p:cNvPr id="17" name="Text 11"/>
          <p:cNvSpPr txBox="1"/>
          <p:nvPr/>
        </p:nvSpPr>
        <p:spPr>
          <a:xfrm>
            <a:off x="1325880" y="3776472"/>
            <a:ext cx="3566160" cy="320040"/>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Du behältst die Kontrolle</a:t>
            </a:r>
            <a:endParaRPr lang="en-US" sz="1500" dirty="0"/>
          </a:p>
        </p:txBody>
      </p:sp>
      <p:sp>
        <p:nvSpPr>
          <p:cNvPr id="18" name="Text 12"/>
          <p:cNvSpPr txBox="1"/>
          <p:nvPr/>
        </p:nvSpPr>
        <p:spPr>
          <a:xfrm>
            <a:off x="1325880" y="4096512"/>
            <a:ext cx="3566160" cy="320040"/>
          </a:xfrm>
          <a:prstGeom prst="rect">
            <a:avLst/>
          </a:prstGeom>
          <a:noFill/>
          <a:ln/>
        </p:spPr>
        <p:txBody>
          <a:bodyPr wrap="square" lIns="0" tIns="0" rIns="0" bIns="0" rtlCol="0" anchor="ctr"/>
          <a:lstStyle/>
          <a:p>
            <a:pPr marL="0" indent="0">
              <a:buNone/>
            </a:pPr>
            <a:r>
              <a:rPr lang="en-US" sz="1300" dirty="0">
                <a:solidFill>
                  <a:srgbClr val="5F6675"/>
                </a:solidFill>
                <a:latin typeface="Calibri" pitchFamily="34" charset="0"/>
                <a:ea typeface="Calibri" pitchFamily="34" charset="-122"/>
                <a:cs typeface="Calibri" pitchFamily="34" charset="-120"/>
              </a:rPr>
              <a:t>Vorschau und Bestätigung vor jeder Buchung</a:t>
            </a:r>
            <a:endParaRPr lang="en-US" sz="1300" dirty="0"/>
          </a:p>
        </p:txBody>
      </p:sp>
      <p:sp>
        <p:nvSpPr>
          <p:cNvPr id="19" name="Shape 13"/>
          <p:cNvSpPr/>
          <p:nvPr/>
        </p:nvSpPr>
        <p:spPr>
          <a:xfrm>
            <a:off x="5212080" y="1188720"/>
            <a:ext cx="3383280" cy="3291840"/>
          </a:xfrm>
          <a:prstGeom prst="roundRect">
            <a:avLst>
              <a:gd name="adj" fmla="val 3333"/>
            </a:avLst>
          </a:prstGeom>
          <a:solidFill>
            <a:srgbClr val="F3F4F7"/>
          </a:solidFill>
          <a:ln w="12700">
            <a:solidFill>
              <a:srgbClr val="F3F4F7"/>
            </a:solidFill>
            <a:prstDash val="solid"/>
          </a:ln>
        </p:spPr>
        <p:txBody>
          <a:bodyPr/>
          <a:lstStyle/>
          <a:p>
            <a:endParaRPr lang="de-DE"/>
          </a:p>
        </p:txBody>
      </p:sp>
      <p:pic>
        <p:nvPicPr>
          <p:cNvPr id="20" name="Image 4" descr="preencoded.png"/>
          <p:cNvPicPr>
            <a:picLocks noChangeAspect="1"/>
          </p:cNvPicPr>
          <p:nvPr/>
        </p:nvPicPr>
        <p:blipFill>
          <a:blip r:embed="rId7"/>
          <a:stretch>
            <a:fillRect/>
          </a:stretch>
        </p:blipFill>
        <p:spPr>
          <a:xfrm>
            <a:off x="5486400" y="1463040"/>
            <a:ext cx="365760" cy="365760"/>
          </a:xfrm>
          <a:prstGeom prst="rect">
            <a:avLst/>
          </a:prstGeom>
        </p:spPr>
      </p:pic>
      <p:sp>
        <p:nvSpPr>
          <p:cNvPr id="21" name="Text 14"/>
          <p:cNvSpPr txBox="1"/>
          <p:nvPr/>
        </p:nvSpPr>
        <p:spPr>
          <a:xfrm>
            <a:off x="5989320" y="1463040"/>
            <a:ext cx="2468880" cy="365760"/>
          </a:xfrm>
          <a:prstGeom prst="rect">
            <a:avLst/>
          </a:prstGeom>
          <a:noFill/>
          <a:ln/>
        </p:spPr>
        <p:txBody>
          <a:bodyPr wrap="square" lIns="0" tIns="0" rIns="0" bIns="0" rtlCol="0" anchor="ctr"/>
          <a:lstStyle/>
          <a:p>
            <a:pPr marL="0" indent="0">
              <a:buNone/>
            </a:pPr>
            <a:r>
              <a:rPr lang="en-US" sz="1700" b="1" dirty="0">
                <a:solidFill>
                  <a:srgbClr val="1E2230"/>
                </a:solidFill>
                <a:latin typeface="Arial" pitchFamily="34" charset="0"/>
                <a:ea typeface="Arial" pitchFamily="34" charset="-122"/>
                <a:cs typeface="Arial" pitchFamily="34" charset="-120"/>
              </a:rPr>
              <a:t>Nächste Schritte</a:t>
            </a:r>
            <a:endParaRPr lang="en-US" sz="1700" dirty="0"/>
          </a:p>
        </p:txBody>
      </p:sp>
      <p:sp>
        <p:nvSpPr>
          <p:cNvPr id="22" name="Text 15"/>
          <p:cNvSpPr txBox="1"/>
          <p:nvPr/>
        </p:nvSpPr>
        <p:spPr>
          <a:xfrm>
            <a:off x="5486400" y="2011680"/>
            <a:ext cx="29260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230"/>
                </a:solidFill>
                <a:latin typeface="Calibri" pitchFamily="34" charset="0"/>
                <a:ea typeface="Calibri" pitchFamily="34" charset="-122"/>
                <a:cs typeface="Calibri" pitchFamily="34" charset="-120"/>
              </a:rPr>
              <a:t>Windows-Support fertigstellen</a:t>
            </a:r>
            <a:endParaRPr lang="en-US" sz="1400" dirty="0"/>
          </a:p>
          <a:p>
            <a:pPr marL="342900" indent="-342900">
              <a:spcAft>
                <a:spcPts val="800"/>
              </a:spcAft>
              <a:buSzPct val="100000"/>
              <a:buChar char="•"/>
            </a:pPr>
            <a:r>
              <a:rPr lang="en-US" sz="1400" dirty="0">
                <a:solidFill>
                  <a:srgbClr val="1E2230"/>
                </a:solidFill>
                <a:latin typeface="Calibri" pitchFamily="34" charset="0"/>
                <a:ea typeface="Calibri" pitchFamily="34" charset="-122"/>
                <a:cs typeface="Calibri" pitchFamily="34" charset="-120"/>
              </a:rPr>
              <a:t>Freigabe an echten Buchungen testen</a:t>
            </a:r>
            <a:endParaRPr lang="en-US" sz="1400" dirty="0"/>
          </a:p>
          <a:p>
            <a:pPr marL="342900" indent="-342900">
              <a:spcAft>
                <a:spcPts val="800"/>
              </a:spcAft>
              <a:buSzPct val="100000"/>
              <a:buChar char="•"/>
            </a:pPr>
            <a:r>
              <a:rPr lang="en-US" sz="1400" dirty="0">
                <a:solidFill>
                  <a:srgbClr val="1E2230"/>
                </a:solidFill>
                <a:latin typeface="Calibri" pitchFamily="34" charset="0"/>
                <a:ea typeface="Calibri" pitchFamily="34" charset="-122"/>
                <a:cs typeface="Calibri" pitchFamily="34" charset="-120"/>
              </a:rPr>
              <a:t>Plugin für alle Kolleginnen und Kollegen bereitstellen</a:t>
            </a:r>
            <a:endParaRPr lang="en-US" sz="1400" dirty="0"/>
          </a:p>
          <a:p>
            <a:pPr marL="342900" indent="-342900">
              <a:spcAft>
                <a:spcPts val="800"/>
              </a:spcAft>
              <a:buSzPct val="100000"/>
              <a:buChar char="•"/>
            </a:pPr>
            <a:r>
              <a:rPr lang="en-US" sz="1400" dirty="0">
                <a:solidFill>
                  <a:srgbClr val="1E2230"/>
                </a:solidFill>
                <a:latin typeface="Calibri" pitchFamily="34" charset="0"/>
                <a:ea typeface="Calibri" pitchFamily="34" charset="-122"/>
                <a:cs typeface="Calibri" pitchFamily="34" charset="-120"/>
              </a:rPr>
              <a:t>Weitere Quellen anbinden, z. B. Jira oder Teams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200" b="1" dirty="0">
                <a:solidFill>
                  <a:srgbClr val="1E2230"/>
                </a:solidFill>
                <a:latin typeface="Arial" pitchFamily="34" charset="0"/>
                <a:ea typeface="Arial" pitchFamily="34" charset="-122"/>
                <a:cs typeface="Arial" pitchFamily="34" charset="-120"/>
              </a:rPr>
              <a:t>In vier Schritten startklar</a:t>
            </a:r>
            <a:endParaRPr lang="en-US" sz="3200" dirty="0"/>
          </a:p>
        </p:txBody>
      </p:sp>
      <p:sp>
        <p:nvSpPr>
          <p:cNvPr id="3" name="Text 1"/>
          <p:cNvSpPr txBox="1"/>
          <p:nvPr/>
        </p:nvSpPr>
        <p:spPr>
          <a:xfrm>
            <a:off x="548640" y="960120"/>
            <a:ext cx="8046720" cy="320040"/>
          </a:xfrm>
          <a:prstGeom prst="rect">
            <a:avLst/>
          </a:prstGeom>
          <a:noFill/>
          <a:ln/>
        </p:spPr>
        <p:txBody>
          <a:bodyPr wrap="square" lIns="0" tIns="0" rIns="0" bIns="0" rtlCol="0" anchor="ctr"/>
          <a:lstStyle/>
          <a:p>
            <a:pPr marL="0" indent="0">
              <a:buNone/>
            </a:pPr>
            <a:r>
              <a:rPr lang="en-US" sz="1400" dirty="0">
                <a:solidFill>
                  <a:srgbClr val="5F6675"/>
                </a:solidFill>
                <a:latin typeface="Calibri" pitchFamily="34" charset="0"/>
                <a:ea typeface="Calibri" pitchFamily="34" charset="-122"/>
                <a:cs typeface="Calibri" pitchFamily="34" charset="-120"/>
              </a:rPr>
              <a:t>Voraussetzungen: Claude Code, VPN oder Firmennetz, Zugriff auf das Repo</a:t>
            </a:r>
            <a:endParaRPr lang="en-US" sz="1400" dirty="0"/>
          </a:p>
        </p:txBody>
      </p:sp>
      <p:sp>
        <p:nvSpPr>
          <p:cNvPr id="4" name="Shape 2"/>
          <p:cNvSpPr/>
          <p:nvPr/>
        </p:nvSpPr>
        <p:spPr>
          <a:xfrm>
            <a:off x="548640" y="1417320"/>
            <a:ext cx="457200" cy="457200"/>
          </a:xfrm>
          <a:prstGeom prst="ellipse">
            <a:avLst/>
          </a:prstGeom>
          <a:solidFill>
            <a:srgbClr val="F2A93B"/>
          </a:solidFill>
          <a:ln w="12700">
            <a:solidFill>
              <a:srgbClr val="F2A93B"/>
            </a:solidFill>
            <a:prstDash val="solid"/>
          </a:ln>
        </p:spPr>
        <p:txBody>
          <a:bodyPr/>
          <a:lstStyle/>
          <a:p>
            <a:endParaRPr lang="de-DE"/>
          </a:p>
        </p:txBody>
      </p:sp>
      <p:sp>
        <p:nvSpPr>
          <p:cNvPr id="5" name="Text 3"/>
          <p:cNvSpPr txBox="1"/>
          <p:nvPr/>
        </p:nvSpPr>
        <p:spPr>
          <a:xfrm>
            <a:off x="548640" y="1417320"/>
            <a:ext cx="457200" cy="457200"/>
          </a:xfrm>
          <a:prstGeom prst="rect">
            <a:avLst/>
          </a:prstGeom>
          <a:noFill/>
          <a:ln/>
        </p:spPr>
        <p:txBody>
          <a:bodyPr wrap="square" lIns="0" tIns="0" rIns="0" bIns="0" rtlCol="0" anchor="ctr"/>
          <a:lstStyle/>
          <a:p>
            <a:pPr marL="0" indent="0" algn="ctr">
              <a:buNone/>
            </a:pPr>
            <a:r>
              <a:rPr lang="en-US" sz="1600" b="1" dirty="0">
                <a:solidFill>
                  <a:srgbClr val="1E2230"/>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34440" y="1399032"/>
            <a:ext cx="7315200" cy="292608"/>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Marktplatz hinzufügen</a:t>
            </a:r>
            <a:endParaRPr lang="en-US" sz="1500" dirty="0"/>
          </a:p>
        </p:txBody>
      </p:sp>
      <p:sp>
        <p:nvSpPr>
          <p:cNvPr id="7" name="Shape 5"/>
          <p:cNvSpPr/>
          <p:nvPr/>
        </p:nvSpPr>
        <p:spPr>
          <a:xfrm>
            <a:off x="1234440" y="1746504"/>
            <a:ext cx="7360920" cy="384048"/>
          </a:xfrm>
          <a:prstGeom prst="roundRect">
            <a:avLst>
              <a:gd name="adj" fmla="val 19048"/>
            </a:avLst>
          </a:prstGeom>
          <a:solidFill>
            <a:srgbClr val="F3F4F7"/>
          </a:solidFill>
          <a:ln w="12700">
            <a:solidFill>
              <a:srgbClr val="F3F4F7"/>
            </a:solidFill>
            <a:prstDash val="solid"/>
          </a:ln>
        </p:spPr>
        <p:txBody>
          <a:bodyPr/>
          <a:lstStyle/>
          <a:p>
            <a:endParaRPr lang="de-DE"/>
          </a:p>
        </p:txBody>
      </p:sp>
      <p:sp>
        <p:nvSpPr>
          <p:cNvPr id="8" name="Text 6"/>
          <p:cNvSpPr txBox="1"/>
          <p:nvPr/>
        </p:nvSpPr>
        <p:spPr>
          <a:xfrm>
            <a:off x="1371600" y="1746504"/>
            <a:ext cx="7132320" cy="384048"/>
          </a:xfrm>
          <a:prstGeom prst="rect">
            <a:avLst/>
          </a:prstGeom>
          <a:noFill/>
          <a:ln/>
        </p:spPr>
        <p:txBody>
          <a:bodyPr wrap="square" lIns="0" tIns="0" rIns="0" bIns="0" rtlCol="0" anchor="ctr"/>
          <a:lstStyle/>
          <a:p>
            <a:pPr marL="0" indent="0">
              <a:buNone/>
            </a:pPr>
            <a:r>
              <a:rPr lang="en-US" sz="1050" b="1" dirty="0">
                <a:solidFill>
                  <a:srgbClr val="1E2230"/>
                </a:solidFill>
                <a:latin typeface="Courier New" pitchFamily="34" charset="0"/>
                <a:ea typeface="Courier New" pitchFamily="34" charset="-122"/>
                <a:cs typeface="Courier New" pitchFamily="34" charset="-120"/>
              </a:rPr>
              <a:t>/plugin marketplace add git@ssh.dev.azure.com:v3/btc-cloud-aws/KI%20Hackathon/gruppe7</a:t>
            </a:r>
            <a:endParaRPr lang="en-US" sz="1050" dirty="0"/>
          </a:p>
        </p:txBody>
      </p:sp>
      <p:sp>
        <p:nvSpPr>
          <p:cNvPr id="9" name="Shape 7"/>
          <p:cNvSpPr/>
          <p:nvPr/>
        </p:nvSpPr>
        <p:spPr>
          <a:xfrm>
            <a:off x="548640" y="2267712"/>
            <a:ext cx="457200" cy="457200"/>
          </a:xfrm>
          <a:prstGeom prst="ellipse">
            <a:avLst/>
          </a:prstGeom>
          <a:solidFill>
            <a:srgbClr val="F2A93B"/>
          </a:solidFill>
          <a:ln w="12700">
            <a:solidFill>
              <a:srgbClr val="F2A93B"/>
            </a:solidFill>
            <a:prstDash val="solid"/>
          </a:ln>
        </p:spPr>
        <p:txBody>
          <a:bodyPr/>
          <a:lstStyle/>
          <a:p>
            <a:endParaRPr lang="de-DE"/>
          </a:p>
        </p:txBody>
      </p:sp>
      <p:sp>
        <p:nvSpPr>
          <p:cNvPr id="10" name="Text 8"/>
          <p:cNvSpPr txBox="1"/>
          <p:nvPr/>
        </p:nvSpPr>
        <p:spPr>
          <a:xfrm>
            <a:off x="548640" y="2267712"/>
            <a:ext cx="457200" cy="457200"/>
          </a:xfrm>
          <a:prstGeom prst="rect">
            <a:avLst/>
          </a:prstGeom>
          <a:noFill/>
          <a:ln/>
        </p:spPr>
        <p:txBody>
          <a:bodyPr wrap="square" lIns="0" tIns="0" rIns="0" bIns="0" rtlCol="0" anchor="ctr"/>
          <a:lstStyle/>
          <a:p>
            <a:pPr marL="0" indent="0" algn="ctr">
              <a:buNone/>
            </a:pPr>
            <a:r>
              <a:rPr lang="en-US" sz="1600" b="1" dirty="0">
                <a:solidFill>
                  <a:srgbClr val="1E2230"/>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1234440" y="2249424"/>
            <a:ext cx="7315200" cy="292608"/>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Plugin installieren</a:t>
            </a:r>
            <a:endParaRPr lang="en-US" sz="1500" dirty="0"/>
          </a:p>
        </p:txBody>
      </p:sp>
      <p:sp>
        <p:nvSpPr>
          <p:cNvPr id="12" name="Shape 10"/>
          <p:cNvSpPr/>
          <p:nvPr/>
        </p:nvSpPr>
        <p:spPr>
          <a:xfrm>
            <a:off x="1234440" y="2596896"/>
            <a:ext cx="7360920" cy="384048"/>
          </a:xfrm>
          <a:prstGeom prst="roundRect">
            <a:avLst>
              <a:gd name="adj" fmla="val 19048"/>
            </a:avLst>
          </a:prstGeom>
          <a:solidFill>
            <a:srgbClr val="F3F4F7"/>
          </a:solidFill>
          <a:ln w="12700">
            <a:solidFill>
              <a:srgbClr val="F3F4F7"/>
            </a:solidFill>
            <a:prstDash val="solid"/>
          </a:ln>
        </p:spPr>
        <p:txBody>
          <a:bodyPr/>
          <a:lstStyle/>
          <a:p>
            <a:endParaRPr lang="de-DE"/>
          </a:p>
        </p:txBody>
      </p:sp>
      <p:sp>
        <p:nvSpPr>
          <p:cNvPr id="13" name="Text 11"/>
          <p:cNvSpPr txBox="1"/>
          <p:nvPr/>
        </p:nvSpPr>
        <p:spPr>
          <a:xfrm>
            <a:off x="1371600" y="2596896"/>
            <a:ext cx="7132320" cy="384048"/>
          </a:xfrm>
          <a:prstGeom prst="rect">
            <a:avLst/>
          </a:prstGeom>
          <a:noFill/>
          <a:ln/>
        </p:spPr>
        <p:txBody>
          <a:bodyPr wrap="square" lIns="0" tIns="0" rIns="0" bIns="0" rtlCol="0" anchor="ctr"/>
          <a:lstStyle/>
          <a:p>
            <a:pPr marL="0" indent="0">
              <a:buNone/>
            </a:pPr>
            <a:r>
              <a:rPr lang="en-US" sz="1050" b="1" dirty="0">
                <a:solidFill>
                  <a:srgbClr val="1E2230"/>
                </a:solidFill>
                <a:latin typeface="Courier New" pitchFamily="34" charset="0"/>
                <a:ea typeface="Courier New" pitchFamily="34" charset="-122"/>
                <a:cs typeface="Courier New" pitchFamily="34" charset="-120"/>
              </a:rPr>
              <a:t>/plugin install sap-zeit@gruppe7</a:t>
            </a:r>
            <a:endParaRPr lang="en-US" sz="1050" dirty="0"/>
          </a:p>
        </p:txBody>
      </p:sp>
      <p:sp>
        <p:nvSpPr>
          <p:cNvPr id="14" name="Shape 12"/>
          <p:cNvSpPr/>
          <p:nvPr/>
        </p:nvSpPr>
        <p:spPr>
          <a:xfrm>
            <a:off x="548640" y="3118104"/>
            <a:ext cx="457200" cy="457200"/>
          </a:xfrm>
          <a:prstGeom prst="ellipse">
            <a:avLst/>
          </a:prstGeom>
          <a:solidFill>
            <a:srgbClr val="F2A93B"/>
          </a:solidFill>
          <a:ln w="12700">
            <a:solidFill>
              <a:srgbClr val="F2A93B"/>
            </a:solidFill>
            <a:prstDash val="solid"/>
          </a:ln>
        </p:spPr>
        <p:txBody>
          <a:bodyPr/>
          <a:lstStyle/>
          <a:p>
            <a:endParaRPr lang="de-DE"/>
          </a:p>
        </p:txBody>
      </p:sp>
      <p:sp>
        <p:nvSpPr>
          <p:cNvPr id="15" name="Text 13"/>
          <p:cNvSpPr txBox="1"/>
          <p:nvPr/>
        </p:nvSpPr>
        <p:spPr>
          <a:xfrm>
            <a:off x="548640" y="3118104"/>
            <a:ext cx="457200" cy="457200"/>
          </a:xfrm>
          <a:prstGeom prst="rect">
            <a:avLst/>
          </a:prstGeom>
          <a:noFill/>
          <a:ln/>
        </p:spPr>
        <p:txBody>
          <a:bodyPr wrap="square" lIns="0" tIns="0" rIns="0" bIns="0" rtlCol="0" anchor="ctr"/>
          <a:lstStyle/>
          <a:p>
            <a:pPr marL="0" indent="0" algn="ctr">
              <a:buNone/>
            </a:pPr>
            <a:r>
              <a:rPr lang="en-US" sz="1600" b="1" dirty="0">
                <a:solidFill>
                  <a:srgbClr val="1E2230"/>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1234440" y="3099816"/>
            <a:ext cx="7315200" cy="292608"/>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Outlook verbinden (optional)</a:t>
            </a:r>
            <a:endParaRPr lang="en-US" sz="1500" dirty="0"/>
          </a:p>
        </p:txBody>
      </p:sp>
      <p:sp>
        <p:nvSpPr>
          <p:cNvPr id="17" name="Shape 15"/>
          <p:cNvSpPr/>
          <p:nvPr/>
        </p:nvSpPr>
        <p:spPr>
          <a:xfrm>
            <a:off x="1234440" y="3447288"/>
            <a:ext cx="7360920" cy="384048"/>
          </a:xfrm>
          <a:prstGeom prst="roundRect">
            <a:avLst>
              <a:gd name="adj" fmla="val 19048"/>
            </a:avLst>
          </a:prstGeom>
          <a:solidFill>
            <a:srgbClr val="F3F4F7"/>
          </a:solidFill>
          <a:ln w="12700">
            <a:solidFill>
              <a:srgbClr val="F3F4F7"/>
            </a:solidFill>
            <a:prstDash val="solid"/>
          </a:ln>
        </p:spPr>
        <p:txBody>
          <a:bodyPr/>
          <a:lstStyle/>
          <a:p>
            <a:endParaRPr lang="de-DE"/>
          </a:p>
        </p:txBody>
      </p:sp>
      <p:sp>
        <p:nvSpPr>
          <p:cNvPr id="18" name="Text 16"/>
          <p:cNvSpPr txBox="1"/>
          <p:nvPr/>
        </p:nvSpPr>
        <p:spPr>
          <a:xfrm>
            <a:off x="1371600" y="3447288"/>
            <a:ext cx="7132320" cy="384048"/>
          </a:xfrm>
          <a:prstGeom prst="rect">
            <a:avLst/>
          </a:prstGeom>
          <a:noFill/>
          <a:ln/>
        </p:spPr>
        <p:txBody>
          <a:bodyPr wrap="square" lIns="0" tIns="0" rIns="0" bIns="0" rtlCol="0" anchor="ctr"/>
          <a:lstStyle/>
          <a:p>
            <a:pPr marL="0" indent="0">
              <a:buNone/>
            </a:pPr>
            <a:r>
              <a:rPr lang="en-US" sz="1300" dirty="0">
                <a:solidFill>
                  <a:srgbClr val="1E2230"/>
                </a:solidFill>
                <a:latin typeface="Calibri" pitchFamily="34" charset="0"/>
                <a:ea typeface="Calibri" pitchFamily="34" charset="-122"/>
                <a:cs typeface="Calibri" pitchFamily="34" charset="-120"/>
              </a:rPr>
              <a:t>claude.ai  →  Einstellungen  →  Connectors  →  Microsoft 365  →  Verbinden</a:t>
            </a:r>
            <a:endParaRPr lang="en-US" sz="1300" dirty="0"/>
          </a:p>
        </p:txBody>
      </p:sp>
      <p:sp>
        <p:nvSpPr>
          <p:cNvPr id="19" name="Shape 17"/>
          <p:cNvSpPr/>
          <p:nvPr/>
        </p:nvSpPr>
        <p:spPr>
          <a:xfrm>
            <a:off x="548640" y="3968496"/>
            <a:ext cx="457200" cy="457200"/>
          </a:xfrm>
          <a:prstGeom prst="ellipse">
            <a:avLst/>
          </a:prstGeom>
          <a:solidFill>
            <a:srgbClr val="F2A93B"/>
          </a:solidFill>
          <a:ln w="12700">
            <a:solidFill>
              <a:srgbClr val="F2A93B"/>
            </a:solidFill>
            <a:prstDash val="solid"/>
          </a:ln>
        </p:spPr>
        <p:txBody>
          <a:bodyPr/>
          <a:lstStyle/>
          <a:p>
            <a:endParaRPr lang="de-DE"/>
          </a:p>
        </p:txBody>
      </p:sp>
      <p:sp>
        <p:nvSpPr>
          <p:cNvPr id="20" name="Text 18"/>
          <p:cNvSpPr txBox="1"/>
          <p:nvPr/>
        </p:nvSpPr>
        <p:spPr>
          <a:xfrm>
            <a:off x="548640" y="3968496"/>
            <a:ext cx="457200" cy="457200"/>
          </a:xfrm>
          <a:prstGeom prst="rect">
            <a:avLst/>
          </a:prstGeom>
          <a:noFill/>
          <a:ln/>
        </p:spPr>
        <p:txBody>
          <a:bodyPr wrap="square" lIns="0" tIns="0" rIns="0" bIns="0" rtlCol="0" anchor="ctr"/>
          <a:lstStyle/>
          <a:p>
            <a:pPr marL="0" indent="0" algn="ctr">
              <a:buNone/>
            </a:pPr>
            <a:r>
              <a:rPr lang="en-US" sz="1600" b="1" dirty="0">
                <a:solidFill>
                  <a:srgbClr val="1E2230"/>
                </a:solidFill>
                <a:latin typeface="Arial" pitchFamily="34" charset="0"/>
                <a:ea typeface="Arial" pitchFamily="34" charset="-122"/>
                <a:cs typeface="Arial" pitchFamily="34" charset="-120"/>
              </a:rPr>
              <a:t>4</a:t>
            </a:r>
            <a:endParaRPr lang="en-US" sz="1600" dirty="0"/>
          </a:p>
        </p:txBody>
      </p:sp>
      <p:sp>
        <p:nvSpPr>
          <p:cNvPr id="21" name="Text 19"/>
          <p:cNvSpPr txBox="1"/>
          <p:nvPr/>
        </p:nvSpPr>
        <p:spPr>
          <a:xfrm>
            <a:off x="1234440" y="3950208"/>
            <a:ext cx="7315200" cy="292608"/>
          </a:xfrm>
          <a:prstGeom prst="rect">
            <a:avLst/>
          </a:prstGeom>
          <a:noFill/>
          <a:ln/>
        </p:spPr>
        <p:txBody>
          <a:bodyPr wrap="square" lIns="0" tIns="0" rIns="0" bIns="0" rtlCol="0" anchor="ctr"/>
          <a:lstStyle/>
          <a:p>
            <a:pPr marL="0" indent="0">
              <a:buNone/>
            </a:pPr>
            <a:r>
              <a:rPr lang="en-US" sz="1500" b="1" dirty="0">
                <a:solidFill>
                  <a:srgbClr val="1E2230"/>
                </a:solidFill>
                <a:latin typeface="Arial" pitchFamily="34" charset="0"/>
                <a:ea typeface="Arial" pitchFamily="34" charset="-122"/>
                <a:cs typeface="Arial" pitchFamily="34" charset="-120"/>
              </a:rPr>
              <a:t>Loslegen</a:t>
            </a:r>
            <a:endParaRPr lang="en-US" sz="1500" dirty="0"/>
          </a:p>
        </p:txBody>
      </p:sp>
      <p:sp>
        <p:nvSpPr>
          <p:cNvPr id="22" name="Shape 20"/>
          <p:cNvSpPr/>
          <p:nvPr/>
        </p:nvSpPr>
        <p:spPr>
          <a:xfrm>
            <a:off x="1234440" y="4297680"/>
            <a:ext cx="7360920" cy="384048"/>
          </a:xfrm>
          <a:prstGeom prst="roundRect">
            <a:avLst>
              <a:gd name="adj" fmla="val 19048"/>
            </a:avLst>
          </a:prstGeom>
          <a:solidFill>
            <a:srgbClr val="F3F4F7"/>
          </a:solidFill>
          <a:ln w="12700">
            <a:solidFill>
              <a:srgbClr val="F3F4F7"/>
            </a:solidFill>
            <a:prstDash val="solid"/>
          </a:ln>
        </p:spPr>
        <p:txBody>
          <a:bodyPr/>
          <a:lstStyle/>
          <a:p>
            <a:endParaRPr lang="de-DE"/>
          </a:p>
        </p:txBody>
      </p:sp>
      <p:sp>
        <p:nvSpPr>
          <p:cNvPr id="23" name="Text 21"/>
          <p:cNvSpPr txBox="1"/>
          <p:nvPr/>
        </p:nvSpPr>
        <p:spPr>
          <a:xfrm>
            <a:off x="1371600" y="4297680"/>
            <a:ext cx="7132320" cy="384048"/>
          </a:xfrm>
          <a:prstGeom prst="rect">
            <a:avLst/>
          </a:prstGeom>
          <a:noFill/>
          <a:ln/>
        </p:spPr>
        <p:txBody>
          <a:bodyPr wrap="square" lIns="0" tIns="0" rIns="0" bIns="0" rtlCol="0" anchor="ctr"/>
          <a:lstStyle/>
          <a:p>
            <a:pPr marL="0" indent="0">
              <a:buNone/>
            </a:pPr>
            <a:r>
              <a:rPr lang="en-US" sz="1300" dirty="0">
                <a:solidFill>
                  <a:srgbClr val="1E2230"/>
                </a:solidFill>
                <a:latin typeface="Calibri" pitchFamily="34" charset="0"/>
                <a:ea typeface="Calibri" pitchFamily="34" charset="-122"/>
                <a:cs typeface="Calibri" pitchFamily="34" charset="-120"/>
              </a:rPr>
              <a:t>„Zeig meine Woche“ eingeben. Der erste Start dauert etwa 10 Sekunden.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230"/>
        </a:solidFill>
        <a:effectLst/>
      </p:bgPr>
    </p:bg>
    <p:spTree>
      <p:nvGrpSpPr>
        <p:cNvPr id="1" name=""/>
        <p:cNvGrpSpPr/>
        <p:nvPr/>
      </p:nvGrpSpPr>
      <p:grpSpPr>
        <a:xfrm>
          <a:off x="0" y="0"/>
          <a:ext cx="0" cy="0"/>
          <a:chOff x="0" y="0"/>
          <a:chExt cx="0" cy="0"/>
        </a:xfrm>
      </p:grpSpPr>
      <p:sp>
        <p:nvSpPr>
          <p:cNvPr id="2" name="Shape 0"/>
          <p:cNvSpPr/>
          <p:nvPr/>
        </p:nvSpPr>
        <p:spPr>
          <a:xfrm>
            <a:off x="548640" y="1097280"/>
            <a:ext cx="914400" cy="914400"/>
          </a:xfrm>
          <a:prstGeom prst="ellipse">
            <a:avLst/>
          </a:prstGeom>
          <a:solidFill>
            <a:srgbClr val="F2A93B"/>
          </a:solidFill>
          <a:ln w="12700">
            <a:solidFill>
              <a:srgbClr val="F2A93B"/>
            </a:solidFill>
            <a:prstDash val="solid"/>
          </a:ln>
        </p:spPr>
        <p:txBody>
          <a:bodyPr/>
          <a:lstStyle/>
          <a:p>
            <a:endParaRPr lang="de-DE"/>
          </a:p>
        </p:txBody>
      </p:sp>
      <p:pic>
        <p:nvPicPr>
          <p:cNvPr id="3" name="Image 0" descr="preencoded.png"/>
          <p:cNvPicPr>
            <a:picLocks noChangeAspect="1"/>
          </p:cNvPicPr>
          <p:nvPr/>
        </p:nvPicPr>
        <p:blipFill>
          <a:blip r:embed="rId3"/>
          <a:stretch>
            <a:fillRect/>
          </a:stretch>
        </p:blipFill>
        <p:spPr>
          <a:xfrm>
            <a:off x="777240" y="1325880"/>
            <a:ext cx="457200" cy="457200"/>
          </a:xfrm>
          <a:prstGeom prst="rect">
            <a:avLst/>
          </a:prstGeom>
        </p:spPr>
      </p:pic>
      <p:sp>
        <p:nvSpPr>
          <p:cNvPr id="4" name="Text 1"/>
          <p:cNvSpPr txBox="1"/>
          <p:nvPr/>
        </p:nvSpPr>
        <p:spPr>
          <a:xfrm>
            <a:off x="548640" y="2194560"/>
            <a:ext cx="8046720" cy="82296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Danke! Fragen?</a:t>
            </a:r>
            <a:endParaRPr lang="en-US" sz="4200" dirty="0"/>
          </a:p>
        </p:txBody>
      </p:sp>
      <p:sp>
        <p:nvSpPr>
          <p:cNvPr id="5" name="Text 2"/>
          <p:cNvSpPr txBox="1"/>
          <p:nvPr/>
        </p:nvSpPr>
        <p:spPr>
          <a:xfrm>
            <a:off x="548640" y="3200400"/>
            <a:ext cx="8046720" cy="365760"/>
          </a:xfrm>
          <a:prstGeom prst="rect">
            <a:avLst/>
          </a:prstGeom>
          <a:noFill/>
          <a:ln/>
        </p:spPr>
        <p:txBody>
          <a:bodyPr wrap="square" lIns="0" tIns="0" rIns="0" bIns="0" rtlCol="0" anchor="ctr"/>
          <a:lstStyle/>
          <a:p>
            <a:pPr marL="0" indent="0">
              <a:buNone/>
            </a:pPr>
            <a:r>
              <a:rPr lang="en-US" sz="1600" dirty="0">
                <a:solidFill>
                  <a:srgbClr val="C9CED8"/>
                </a:solidFill>
                <a:latin typeface="Calibri" pitchFamily="34" charset="0"/>
                <a:ea typeface="Calibri" pitchFamily="34" charset="-122"/>
                <a:cs typeface="Calibri" pitchFamily="34" charset="-120"/>
              </a:rPr>
              <a:t>Die ausführliche Anleitung steht in unserer Confluence-Doku.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883</Words>
  <Application>Microsoft Macintosh PowerPoint</Application>
  <PresentationFormat>Bildschirmpräsentation (16:9)</PresentationFormat>
  <Paragraphs>96</Paragraphs>
  <Slides>8</Slides>
  <Notes>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 Gameday Gruppe 7: Zeiterfassung Agent</dc:title>
  <dc:subject>PptxGenJS Presentation</dc:subject>
  <dc:creator>PptxGenJS</dc:creator>
  <cp:lastModifiedBy>Heuer, Linus Julen</cp:lastModifiedBy>
  <cp:revision>1</cp:revision>
  <dcterms:created xsi:type="dcterms:W3CDTF">2026-09-30T10:02:26Z</dcterms:created>
  <dcterms:modified xsi:type="dcterms:W3CDTF">2026-09-30T10:10:52Z</dcterms:modified>
</cp:coreProperties>
</file>